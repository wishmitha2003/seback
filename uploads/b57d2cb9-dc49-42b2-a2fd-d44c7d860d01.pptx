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1"/>
  </p:notesMasterIdLst>
  <p:sldIdLst>
    <p:sldId id="515" r:id="rId2"/>
    <p:sldId id="444" r:id="rId3"/>
    <p:sldId id="453" r:id="rId4"/>
    <p:sldId id="445" r:id="rId5"/>
    <p:sldId id="455" r:id="rId6"/>
    <p:sldId id="463" r:id="rId7"/>
    <p:sldId id="464" r:id="rId8"/>
    <p:sldId id="456" r:id="rId9"/>
    <p:sldId id="465" r:id="rId10"/>
    <p:sldId id="458" r:id="rId11"/>
    <p:sldId id="490" r:id="rId12"/>
    <p:sldId id="491" r:id="rId13"/>
    <p:sldId id="492" r:id="rId14"/>
    <p:sldId id="507" r:id="rId15"/>
    <p:sldId id="493" r:id="rId16"/>
    <p:sldId id="494" r:id="rId17"/>
    <p:sldId id="495" r:id="rId18"/>
    <p:sldId id="496" r:id="rId19"/>
    <p:sldId id="497" r:id="rId20"/>
    <p:sldId id="503" r:id="rId21"/>
    <p:sldId id="505" r:id="rId22"/>
    <p:sldId id="504" r:id="rId23"/>
    <p:sldId id="506" r:id="rId24"/>
    <p:sldId id="367" r:id="rId25"/>
    <p:sldId id="368" r:id="rId26"/>
    <p:sldId id="371" r:id="rId27"/>
    <p:sldId id="370" r:id="rId28"/>
    <p:sldId id="405" r:id="rId29"/>
    <p:sldId id="404" r:id="rId3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1" autoAdjust="0"/>
    <p:restoredTop sz="94660"/>
  </p:normalViewPr>
  <p:slideViewPr>
    <p:cSldViewPr snapToGrid="0" showGuides="1">
      <p:cViewPr varScale="1">
        <p:scale>
          <a:sx n="61" d="100"/>
          <a:sy n="61" d="100"/>
        </p:scale>
        <p:origin x="1008" y="7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6127F8-B97D-4A28-AA28-D06EC1647C28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2F82606-92FA-40DF-9495-64C133BE2C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2679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3CA8BA1E-2129-9C42-9F26-6C283F8DD1E3}" type="slidenum">
              <a:rPr lang="en-AU"/>
              <a:pPr>
                <a:defRPr/>
              </a:pPr>
              <a:t>2</a:t>
            </a:fld>
            <a:endParaRPr lang="en-AU"/>
          </a:p>
        </p:txBody>
      </p:sp>
      <p:sp>
        <p:nvSpPr>
          <p:cNvPr id="3297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3297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endParaRPr lang="en-US">
              <a:cs typeface="+mn-cs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3DE5B9F1-7FEC-3D4D-818A-2FFB8A6D507C}" type="slidenum">
              <a:rPr lang="en-AU"/>
              <a:pPr>
                <a:defRPr/>
              </a:pPr>
              <a:t>3</a:t>
            </a:fld>
            <a:endParaRPr lang="en-AU"/>
          </a:p>
        </p:txBody>
      </p:sp>
      <p:sp>
        <p:nvSpPr>
          <p:cNvPr id="3112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3112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endParaRPr lang="en-US">
              <a:cs typeface="+mn-cs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E257632-C45A-9C48-BD59-35A1C25103A2}" type="slidenum">
              <a:rPr lang="en-AU"/>
              <a:pPr>
                <a:defRPr/>
              </a:pPr>
              <a:t>4</a:t>
            </a:fld>
            <a:endParaRPr lang="en-AU"/>
          </a:p>
        </p:txBody>
      </p:sp>
      <p:sp>
        <p:nvSpPr>
          <p:cNvPr id="3307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3307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endParaRPr lang="en-US">
              <a:cs typeface="+mn-cs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E7CE430-8CFC-4945-BE50-36AB23E8126A}" type="slidenum">
              <a:rPr lang="en-AU"/>
              <a:pPr>
                <a:defRPr/>
              </a:pPr>
              <a:t>5</a:t>
            </a:fld>
            <a:endParaRPr lang="en-AU"/>
          </a:p>
        </p:txBody>
      </p:sp>
      <p:sp>
        <p:nvSpPr>
          <p:cNvPr id="3850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3850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endParaRPr lang="en-US">
              <a:cs typeface="+mn-cs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E7CE430-8CFC-4945-BE50-36AB23E8126A}" type="slidenum">
              <a:rPr lang="en-AU"/>
              <a:pPr>
                <a:defRPr/>
              </a:pPr>
              <a:t>6</a:t>
            </a:fld>
            <a:endParaRPr lang="en-AU"/>
          </a:p>
        </p:txBody>
      </p:sp>
      <p:sp>
        <p:nvSpPr>
          <p:cNvPr id="3850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3850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endParaRPr lang="en-US">
              <a:cs typeface="+mn-cs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ED57CC0-EBDD-DF4B-BEBD-5E136425AB0D}" type="slidenum">
              <a:rPr lang="en-AU"/>
              <a:pPr>
                <a:defRPr/>
              </a:pPr>
              <a:t>7</a:t>
            </a:fld>
            <a:endParaRPr lang="en-AU"/>
          </a:p>
        </p:txBody>
      </p:sp>
      <p:sp>
        <p:nvSpPr>
          <p:cNvPr id="3891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3891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endParaRPr lang="en-US">
              <a:cs typeface="+mn-cs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3F7F03C4-3722-8F43-90D5-8FD3BB0B3114}" type="slidenum">
              <a:rPr lang="en-AU"/>
              <a:pPr>
                <a:defRPr/>
              </a:pPr>
              <a:t>8</a:t>
            </a:fld>
            <a:endParaRPr lang="en-AU"/>
          </a:p>
        </p:txBody>
      </p:sp>
      <p:sp>
        <p:nvSpPr>
          <p:cNvPr id="3870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3870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endParaRPr lang="en-US">
              <a:cs typeface="+mn-cs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3F7F03C4-3722-8F43-90D5-8FD3BB0B3114}" type="slidenum">
              <a:rPr lang="en-AU"/>
              <a:pPr>
                <a:defRPr/>
              </a:pPr>
              <a:t>9</a:t>
            </a:fld>
            <a:endParaRPr lang="en-AU"/>
          </a:p>
        </p:txBody>
      </p:sp>
      <p:sp>
        <p:nvSpPr>
          <p:cNvPr id="3870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3870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endParaRPr lang="en-US">
              <a:cs typeface="+mn-cs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D315F14-5D50-A245-9239-7F824AD0513D}" type="slidenum">
              <a:rPr lang="en-AU"/>
              <a:pPr>
                <a:defRPr/>
              </a:pPr>
              <a:t>10</a:t>
            </a:fld>
            <a:endParaRPr lang="en-AU"/>
          </a:p>
        </p:txBody>
      </p:sp>
      <p:sp>
        <p:nvSpPr>
          <p:cNvPr id="3911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3911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endParaRPr lang="en-US">
              <a:cs typeface="+mn-cs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4615D0A-EC5F-0946-8413-744AB1882A6E}" type="slidenum">
              <a:rPr lang="en-AU"/>
              <a:pPr>
                <a:defRPr/>
              </a:pPr>
              <a:t>11</a:t>
            </a:fld>
            <a:endParaRPr lang="en-AU"/>
          </a:p>
        </p:txBody>
      </p:sp>
      <p:sp>
        <p:nvSpPr>
          <p:cNvPr id="2641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2641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endParaRPr lang="en-US">
              <a:cs typeface="+mn-cs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2329FC67-A5F9-A049-8AEA-88C14ACB18E1}" type="slidenum">
              <a:rPr lang="en-AU"/>
              <a:pPr>
                <a:defRPr/>
              </a:pPr>
              <a:t>12</a:t>
            </a:fld>
            <a:endParaRPr lang="en-AU"/>
          </a:p>
        </p:txBody>
      </p:sp>
      <p:sp>
        <p:nvSpPr>
          <p:cNvPr id="2652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2652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endParaRPr lang="en-US">
              <a:cs typeface="+mn-cs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BD15895-7559-AA48-8DEB-C645D096BE8F}" type="slidenum">
              <a:rPr lang="en-AU"/>
              <a:pPr>
                <a:defRPr/>
              </a:pPr>
              <a:t>13</a:t>
            </a:fld>
            <a:endParaRPr lang="en-AU"/>
          </a:p>
        </p:txBody>
      </p:sp>
      <p:sp>
        <p:nvSpPr>
          <p:cNvPr id="3973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3973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endParaRPr lang="en-US">
              <a:cs typeface="+mn-cs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6EB8DC3-3A77-204A-B353-FE4FE6162637}" type="slidenum">
              <a:rPr lang="en-AU"/>
              <a:pPr>
                <a:defRPr/>
              </a:pPr>
              <a:t>14</a:t>
            </a:fld>
            <a:endParaRPr lang="en-AU"/>
          </a:p>
        </p:txBody>
      </p:sp>
      <p:sp>
        <p:nvSpPr>
          <p:cNvPr id="3000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3000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endParaRPr lang="en-US">
              <a:cs typeface="+mn-cs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02F156B-559E-CE41-9313-104F4F3AA700}" type="slidenum">
              <a:rPr lang="en-AU"/>
              <a:pPr>
                <a:defRPr/>
              </a:pPr>
              <a:t>15</a:t>
            </a:fld>
            <a:endParaRPr lang="en-AU"/>
          </a:p>
        </p:txBody>
      </p:sp>
      <p:sp>
        <p:nvSpPr>
          <p:cNvPr id="3153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3153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endParaRPr lang="en-US">
              <a:cs typeface="+mn-cs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1A1D804-54C1-FB42-A5A7-4001E5BC55DC}" type="slidenum">
              <a:rPr lang="en-AU"/>
              <a:pPr>
                <a:defRPr/>
              </a:pPr>
              <a:t>16</a:t>
            </a:fld>
            <a:endParaRPr lang="en-AU"/>
          </a:p>
        </p:txBody>
      </p:sp>
      <p:sp>
        <p:nvSpPr>
          <p:cNvPr id="3164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3164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endParaRPr lang="en-US">
              <a:cs typeface="+mn-cs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0BD4C5B-0A94-9046-8BBF-2845D224B412}" type="slidenum">
              <a:rPr lang="en-AU"/>
              <a:pPr>
                <a:defRPr/>
              </a:pPr>
              <a:t>17</a:t>
            </a:fld>
            <a:endParaRPr lang="en-AU"/>
          </a:p>
        </p:txBody>
      </p:sp>
      <p:sp>
        <p:nvSpPr>
          <p:cNvPr id="3174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3174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endParaRPr lang="en-US">
              <a:cs typeface="+mn-cs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F4FC290-6328-6946-BA25-D0FA29CC6620}" type="slidenum">
              <a:rPr lang="en-AU"/>
              <a:pPr>
                <a:defRPr/>
              </a:pPr>
              <a:t>18</a:t>
            </a:fld>
            <a:endParaRPr lang="en-AU"/>
          </a:p>
        </p:txBody>
      </p:sp>
      <p:sp>
        <p:nvSpPr>
          <p:cNvPr id="3184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3184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endParaRPr lang="en-US">
              <a:cs typeface="+mn-cs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026C438-F8EF-4C41-A7B6-5E2EFD258BE3}" type="slidenum">
              <a:rPr lang="en-AU"/>
              <a:pPr>
                <a:defRPr/>
              </a:pPr>
              <a:t>19</a:t>
            </a:fld>
            <a:endParaRPr lang="en-AU"/>
          </a:p>
        </p:txBody>
      </p:sp>
      <p:sp>
        <p:nvSpPr>
          <p:cNvPr id="3194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3194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endParaRPr lang="en-US">
              <a:cs typeface="+mn-cs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8F2ADF5D-5AAC-7848-A7F3-D146F7B71ECA}" type="slidenum">
              <a:rPr lang="en-AU"/>
              <a:pPr>
                <a:defRPr/>
              </a:pPr>
              <a:t>20</a:t>
            </a:fld>
            <a:endParaRPr lang="en-AU"/>
          </a:p>
        </p:txBody>
      </p:sp>
      <p:sp>
        <p:nvSpPr>
          <p:cNvPr id="2897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2897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endParaRPr lang="en-US">
              <a:cs typeface="+mn-cs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8F2ADF5D-5AAC-7848-A7F3-D146F7B71ECA}" type="slidenum">
              <a:rPr lang="en-AU"/>
              <a:pPr>
                <a:defRPr/>
              </a:pPr>
              <a:t>21</a:t>
            </a:fld>
            <a:endParaRPr lang="en-AU"/>
          </a:p>
        </p:txBody>
      </p:sp>
      <p:sp>
        <p:nvSpPr>
          <p:cNvPr id="2897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2897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endParaRPr lang="en-US">
              <a:cs typeface="+mn-cs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8F2ADF5D-5AAC-7848-A7F3-D146F7B71ECA}" type="slidenum">
              <a:rPr lang="en-AU"/>
              <a:pPr>
                <a:defRPr/>
              </a:pPr>
              <a:t>22</a:t>
            </a:fld>
            <a:endParaRPr lang="en-AU"/>
          </a:p>
        </p:txBody>
      </p:sp>
      <p:sp>
        <p:nvSpPr>
          <p:cNvPr id="2897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2897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endParaRPr lang="en-US">
              <a:cs typeface="+mn-cs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FB0B6398-3BF7-E64A-A46C-0681BC8F548B}" type="slidenum">
              <a:rPr lang="en-AU"/>
              <a:pPr>
                <a:defRPr/>
              </a:pPr>
              <a:t>23</a:t>
            </a:fld>
            <a:endParaRPr lang="en-AU"/>
          </a:p>
        </p:txBody>
      </p:sp>
      <p:sp>
        <p:nvSpPr>
          <p:cNvPr id="2928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2928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endParaRPr lang="en-US">
              <a:cs typeface="+mn-cs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0804E17-674D-2B4E-AFD7-4729E1C44A12}" type="slidenum">
              <a:rPr lang="en-AU"/>
              <a:pPr>
                <a:defRPr/>
              </a:pPr>
              <a:t>24</a:t>
            </a:fld>
            <a:endParaRPr lang="en-AU"/>
          </a:p>
        </p:txBody>
      </p:sp>
      <p:sp>
        <p:nvSpPr>
          <p:cNvPr id="2949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2949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endParaRPr lang="en-US">
              <a:cs typeface="+mn-cs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DD71B96-F640-F24C-934D-580E702CE8F7}" type="slidenum">
              <a:rPr lang="en-AU"/>
              <a:pPr>
                <a:defRPr/>
              </a:pPr>
              <a:t>25</a:t>
            </a:fld>
            <a:endParaRPr lang="en-AU"/>
          </a:p>
        </p:txBody>
      </p:sp>
      <p:sp>
        <p:nvSpPr>
          <p:cNvPr id="2959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2959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endParaRPr lang="en-US">
              <a:cs typeface="+mn-cs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15643A0-A4E4-1343-AD94-6C784AFFA109}" type="slidenum">
              <a:rPr lang="en-AU"/>
              <a:pPr>
                <a:defRPr/>
              </a:pPr>
              <a:t>26</a:t>
            </a:fld>
            <a:endParaRPr lang="en-AU"/>
          </a:p>
        </p:txBody>
      </p:sp>
      <p:sp>
        <p:nvSpPr>
          <p:cNvPr id="2979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2979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endParaRPr lang="en-US">
              <a:cs typeface="+mn-cs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C7596F9-1CAA-8A41-880B-94C837EF5279}" type="slidenum">
              <a:rPr lang="en-AU"/>
              <a:pPr>
                <a:defRPr/>
              </a:pPr>
              <a:t>27</a:t>
            </a:fld>
            <a:endParaRPr lang="en-AU"/>
          </a:p>
        </p:txBody>
      </p:sp>
      <p:sp>
        <p:nvSpPr>
          <p:cNvPr id="2990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2990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endParaRPr lang="en-US">
              <a:cs typeface="+mn-cs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8C1C4CD-3C20-7044-9308-081CEE6C6848}" type="slidenum">
              <a:rPr lang="en-AU"/>
              <a:pPr>
                <a:defRPr/>
              </a:pPr>
              <a:t>28</a:t>
            </a:fld>
            <a:endParaRPr lang="en-AU"/>
          </a:p>
        </p:txBody>
      </p:sp>
      <p:sp>
        <p:nvSpPr>
          <p:cNvPr id="4249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4249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endParaRPr lang="en-US">
              <a:cs typeface="+mn-cs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79523C6-5F67-0641-B987-E55EF658CD3D}" type="slidenum">
              <a:rPr lang="en-AU"/>
              <a:pPr>
                <a:defRPr/>
              </a:pPr>
              <a:t>29</a:t>
            </a:fld>
            <a:endParaRPr lang="en-AU"/>
          </a:p>
        </p:txBody>
      </p:sp>
      <p:sp>
        <p:nvSpPr>
          <p:cNvPr id="4259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4259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endParaRPr lang="en-US">
              <a:cs typeface="+mn-cs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0AEA6F-1B8C-8D5B-7234-649C04DD038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EE6F1C3-EE55-C699-DE42-F7D20E4FBDB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49CECD-4626-118C-6A95-ED58A93648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30C411-78B4-4DB6-85B9-8E8C51FC1B54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0AF019-BEB6-92C9-1611-495B946160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9E68CA-3D57-13EC-63F2-AE9164FDAE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39A179-4036-46A4-A62D-749E794127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18359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8D214C-89CB-45F2-ADF4-7DD9D16CE4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D0A3DE-C40E-2C19-5563-7FA6BFBC1C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05600A-71EE-243C-ED65-6252A7CA25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30C411-78B4-4DB6-85B9-8E8C51FC1B54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8E8039-F7B3-CE81-F1C5-E9F921E52A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0B3AAE-B6A4-D0CA-1A03-8991DAC0B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39A179-4036-46A4-A62D-749E794127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05833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15F412-8519-9948-9689-027BA2AC52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4790B2-B89E-FCEC-5F1A-3A3939A755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CF3514-C6D6-80A0-0CAC-8D151274AE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30C411-78B4-4DB6-85B9-8E8C51FC1B54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3188C8-F0C5-6C29-FA88-EE4C3A2F88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6F47FB-DE63-69C2-DE66-4FE09C907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39A179-4036-46A4-A62D-749E794127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17647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AC53CB-7F1A-FDD5-194B-6130D6BB99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5D85EA-BEC1-22B9-3245-E915E298486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9CEE618-1309-1F2B-66D5-1F1959A147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9E1343C-BC23-3AE6-CB25-55F5D67E7F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30C411-78B4-4DB6-85B9-8E8C51FC1B54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BF998F4-7424-794B-8602-BDAA6A7212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D719A48-5C2E-2441-13E7-061DB7A1AE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39A179-4036-46A4-A62D-749E794127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49265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E1A27A-09F1-9137-6F54-BB942D490B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296679-CC4A-AA7A-9951-3A53808112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22ACAA7-A028-95A8-C0FC-A1446E5045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870DAFD-D1A8-0578-F8BC-6C81D9548D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98BFFC1-E416-2C97-7ECF-7B6BED54FCD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FF3681-8D91-1BEA-03D3-69E7EA76F6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30C411-78B4-4DB6-85B9-8E8C51FC1B54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BE38985-AF65-ADD7-7B3C-3FAD916C76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32385FD-572B-78D2-8DD7-3DDAA53A83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39A179-4036-46A4-A62D-749E794127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08315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21A747-BE99-BB64-480F-73CA6CB535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B6198CC-0E12-1B38-92A1-919615CEBA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30C411-78B4-4DB6-85B9-8E8C51FC1B54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C35E954-8B34-B893-5C08-63E6A3222F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53802F-AC21-EC32-585F-719A36B490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39A179-4036-46A4-A62D-749E794127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83413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8B8C988-63DD-1B8B-A66C-0AC48E465F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30C411-78B4-4DB6-85B9-8E8C51FC1B54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E3AC895-A15F-52C2-1CA8-B97149D217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A7D4B1-CBC8-C88E-1563-1AEB7F8227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39A179-4036-46A4-A62D-749E794127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71891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C4676A-B1A0-CB99-A8BC-999D62B64F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82E89-BF7F-CAB3-7D2D-397F105932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A4FA216-C16F-547F-8885-A00B801B3B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4C3648-48C5-14DB-531C-BD176D0901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30C411-78B4-4DB6-85B9-8E8C51FC1B54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1CAF90-EE4E-FDED-AC45-64467442D5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A3022A1-4415-A05E-B371-9EDA3FB2A5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39A179-4036-46A4-A62D-749E794127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681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3E2304-D9C4-38FA-B497-490C488161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497BB98-4E47-F9A2-18D6-86C4D49D429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937FCD2-DA3E-7610-49F8-08A2F3AB31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225ABA-D927-636E-427C-B03A8B600E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30C411-78B4-4DB6-85B9-8E8C51FC1B54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23F3DB4-3D1E-8B5F-885B-1FFF1802A7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E1FB94E-BACC-A825-2ED3-BAFDB15302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39A179-4036-46A4-A62D-749E794127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93491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CAE5FF-9409-872B-B9C5-AFF1E506F0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B6B9755-7D7F-9213-C848-9176E5ABEAF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DAF743-4BA2-60D9-2535-51409CE983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30C411-78B4-4DB6-85B9-8E8C51FC1B54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B29442-D2AE-6F61-41FA-8A3DB1C007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9DCD63-783C-8100-2B41-B332946E1A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39A179-4036-46A4-A62D-749E794127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26155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EE1EB09-2E9C-008F-758D-72495E89A6E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48FA4F1-62F6-8FCA-8048-C424DDC835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9100F5-24B6-E931-D342-78970BCED7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30C411-78B4-4DB6-85B9-8E8C51FC1B54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75CE13-C1CD-DAA5-6B09-0D7E4051C3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D64691-DD36-6B9C-2076-41C4ED375E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39A179-4036-46A4-A62D-749E794127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05920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1F3FC09-47E9-0953-79F9-F506F41E23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2FF1EC-56A7-3F13-4B58-882B70C8F8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E8B8F9-EE52-A4A4-F8DD-0419BC02CA5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430C411-78B4-4DB6-85B9-8E8C51FC1B54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7F6BCE-49C8-B3EB-6809-75D737002EC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7BF4FD-6942-9000-B5DF-6D00693A761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539A179-4036-46A4-A62D-749E794127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87482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e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5.emf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2B5DB3-74A1-D1F0-BD89-901321F0F8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48791" y="1916833"/>
            <a:ext cx="8610600" cy="769441"/>
          </a:xfrm>
        </p:spPr>
        <p:txBody>
          <a:bodyPr>
            <a:normAutofit fontScale="90000"/>
          </a:bodyPr>
          <a:lstStyle/>
          <a:p>
            <a:r>
              <a:rPr lang="en-US" dirty="0"/>
              <a:t>SE2042 Operating Systems</a:t>
            </a:r>
            <a:br>
              <a:rPr lang="en-US" dirty="0"/>
            </a:br>
            <a:r>
              <a:rPr lang="en-US" dirty="0"/>
              <a:t>Lecture 02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480A34-9DA2-3B91-7A7F-6E0B7DFB0C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52600" y="3573016"/>
            <a:ext cx="8610600" cy="2522984"/>
          </a:xfrm>
        </p:spPr>
        <p:txBody>
          <a:bodyPr/>
          <a:lstStyle/>
          <a:p>
            <a:pPr marL="0" indent="0">
              <a:buNone/>
            </a:pPr>
            <a:r>
              <a:rPr lang="en-US" dirty="0" err="1"/>
              <a:t>Prof</a:t>
            </a:r>
            <a:r>
              <a:rPr lang="en-US" sz="3200" dirty="0" err="1"/>
              <a:t>.Samantha</a:t>
            </a:r>
            <a:r>
              <a:rPr lang="en-US" sz="3200" dirty="0"/>
              <a:t> Rajapaksha </a:t>
            </a:r>
          </a:p>
          <a:p>
            <a:pPr marL="0" indent="0">
              <a:buNone/>
            </a:pPr>
            <a:r>
              <a:rPr lang="en-US" sz="2000"/>
              <a:t>Associate Processor</a:t>
            </a:r>
          </a:p>
          <a:p>
            <a:pPr marL="0" indent="0">
              <a:buNone/>
            </a:pPr>
            <a:r>
              <a:rPr lang="en-US" sz="2000"/>
              <a:t>PhD</a:t>
            </a:r>
            <a:r>
              <a:rPr lang="en-US" sz="2000" dirty="0"/>
              <a:t>, M.Sc. B.Sc.(Eng.) Moratuwa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FDC745-BDEF-585D-B151-AFCD758DF2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BDB952E-1DF1-EE41-94C3-5A1BAB2ACFA3}" type="slidenum">
              <a:rPr lang="en-AU" smtClean="0"/>
              <a:pPr>
                <a:defRPr/>
              </a:pPr>
              <a:t>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907613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8F87B3D-53ED-844C-A18B-6D6E7062C5A2}" type="slidenum">
              <a:rPr lang="en-AU"/>
              <a:pPr>
                <a:defRPr/>
              </a:pPr>
              <a:t>2</a:t>
            </a:fld>
            <a:endParaRPr lang="en-AU"/>
          </a:p>
        </p:txBody>
      </p:sp>
      <p:sp>
        <p:nvSpPr>
          <p:cNvPr id="270338" name="Rectangle 2"/>
          <p:cNvSpPr>
            <a:spLocks noGrp="1" noChangeArrowheads="1"/>
          </p:cNvSpPr>
          <p:nvPr>
            <p:ph type="title"/>
          </p:nvPr>
        </p:nvSpPr>
        <p:spPr>
          <a:xfrm>
            <a:off x="1752600" y="152401"/>
            <a:ext cx="8610600" cy="519113"/>
          </a:xfrm>
        </p:spPr>
        <p:txBody>
          <a:bodyPr/>
          <a:lstStyle/>
          <a:p>
            <a:pPr eaLnBrk="1" hangingPunct="1">
              <a:defRPr/>
            </a:pPr>
            <a:r>
              <a:rPr lang="en-US" sz="2800" b="1" noProof="1">
                <a:solidFill>
                  <a:srgbClr val="007000"/>
                </a:solidFill>
                <a:latin typeface="Times New Roman" charset="0"/>
              </a:rPr>
              <a:t>Direct memory access (DMA)</a:t>
            </a:r>
            <a:endParaRPr lang="en-US" b="1" u="sng" dirty="0">
              <a:solidFill>
                <a:schemeClr val="tx1"/>
              </a:solidFill>
              <a:latin typeface="Times New Roman" charset="0"/>
              <a:cs typeface="+mj-cs"/>
            </a:endParaRPr>
          </a:p>
        </p:txBody>
      </p:sp>
      <p:sp>
        <p:nvSpPr>
          <p:cNvPr id="2703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752600" y="838200"/>
            <a:ext cx="8686800" cy="5831160"/>
          </a:xfrm>
        </p:spPr>
        <p:txBody>
          <a:bodyPr/>
          <a:lstStyle/>
          <a:p>
            <a:pPr algn="just">
              <a:spcBef>
                <a:spcPts val="100"/>
              </a:spcBef>
              <a:spcAft>
                <a:spcPts val="100"/>
              </a:spcAft>
              <a:defRPr/>
            </a:pPr>
            <a:r>
              <a:rPr lang="en-US" sz="2000" dirty="0">
                <a:solidFill>
                  <a:srgbClr val="0000FF"/>
                </a:solidFill>
                <a:latin typeface="Times New Roman" charset="0"/>
              </a:rPr>
              <a:t>DMA is used to improve the performance of large data transfers.</a:t>
            </a:r>
          </a:p>
          <a:p>
            <a:pPr marL="819150" lvl="1">
              <a:spcBef>
                <a:spcPts val="100"/>
              </a:spcBef>
              <a:spcAft>
                <a:spcPts val="100"/>
              </a:spcAft>
              <a:defRPr/>
            </a:pPr>
            <a:r>
              <a:rPr lang="en-US" sz="1800" dirty="0">
                <a:solidFill>
                  <a:srgbClr val="0000FF"/>
                </a:solidFill>
                <a:latin typeface="Times New Roman" charset="0"/>
              </a:rPr>
              <a:t>Use a special-purpose processor (DMA controller).</a:t>
            </a:r>
          </a:p>
          <a:p>
            <a:pPr marL="819150" lvl="1">
              <a:spcAft>
                <a:spcPts val="100"/>
              </a:spcAft>
              <a:defRPr/>
            </a:pPr>
            <a:r>
              <a:rPr lang="en-US" sz="1800" dirty="0">
                <a:solidFill>
                  <a:srgbClr val="0000FF"/>
                </a:solidFill>
                <a:latin typeface="Times New Roman" charset="0"/>
              </a:rPr>
              <a:t>DMA bypasses CPU to transfer data directly between I/O device and memory.</a:t>
            </a:r>
          </a:p>
          <a:p>
            <a:pPr marL="819150" lvl="1">
              <a:spcAft>
                <a:spcPts val="100"/>
              </a:spcAft>
              <a:defRPr/>
            </a:pPr>
            <a:r>
              <a:rPr lang="en-US" sz="1800" dirty="0">
                <a:solidFill>
                  <a:srgbClr val="0000FF"/>
                </a:solidFill>
                <a:latin typeface="Times New Roman" charset="0"/>
              </a:rPr>
              <a:t>Concurrently, CPU goes on with other work.</a:t>
            </a:r>
          </a:p>
          <a:p>
            <a:pPr>
              <a:spcBef>
                <a:spcPts val="500"/>
              </a:spcBef>
              <a:spcAft>
                <a:spcPts val="100"/>
              </a:spcAft>
              <a:defRPr/>
            </a:pPr>
            <a:r>
              <a:rPr lang="en-US" sz="2000" dirty="0">
                <a:solidFill>
                  <a:srgbClr val="0000FF"/>
                </a:solidFill>
                <a:latin typeface="Times New Roman" charset="0"/>
              </a:rPr>
              <a:t>CPU must give command to DMA controller, containing information: </a:t>
            </a:r>
          </a:p>
          <a:p>
            <a:pPr marL="819150" lvl="1" algn="just">
              <a:spcBef>
                <a:spcPts val="100"/>
              </a:spcBef>
              <a:spcAft>
                <a:spcPts val="100"/>
              </a:spcAft>
              <a:defRPr/>
            </a:pPr>
            <a:r>
              <a:rPr lang="en-US" sz="1800" dirty="0">
                <a:solidFill>
                  <a:srgbClr val="0000FF"/>
                </a:solidFill>
                <a:latin typeface="Times New Roman" charset="0"/>
              </a:rPr>
              <a:t>A pointer to the source/address of the data being transferred,</a:t>
            </a:r>
          </a:p>
          <a:p>
            <a:pPr marL="819150" lvl="1">
              <a:spcBef>
                <a:spcPts val="100"/>
              </a:spcBef>
              <a:spcAft>
                <a:spcPts val="100"/>
              </a:spcAft>
              <a:defRPr/>
            </a:pPr>
            <a:r>
              <a:rPr lang="en-US" sz="1800" dirty="0">
                <a:solidFill>
                  <a:srgbClr val="0000FF"/>
                </a:solidFill>
                <a:latin typeface="Times New Roman" charset="0"/>
              </a:rPr>
              <a:t>A pointer to the destination/address of the transfer, and </a:t>
            </a:r>
          </a:p>
          <a:p>
            <a:pPr marL="819150" lvl="1">
              <a:spcBef>
                <a:spcPts val="100"/>
              </a:spcBef>
              <a:spcAft>
                <a:spcPts val="100"/>
              </a:spcAft>
              <a:defRPr/>
            </a:pPr>
            <a:r>
              <a:rPr lang="en-US" sz="1800" dirty="0">
                <a:solidFill>
                  <a:srgbClr val="0000FF"/>
                </a:solidFill>
                <a:latin typeface="Times New Roman" charset="0"/>
              </a:rPr>
              <a:t>A count of the number of bytes to be transferred.</a:t>
            </a:r>
          </a:p>
          <a:p>
            <a:pPr>
              <a:spcBef>
                <a:spcPts val="500"/>
              </a:spcBef>
              <a:spcAft>
                <a:spcPts val="100"/>
              </a:spcAft>
              <a:defRPr/>
            </a:pPr>
            <a:r>
              <a:rPr lang="en-US" sz="2000" dirty="0">
                <a:solidFill>
                  <a:srgbClr val="0000FF"/>
                </a:solidFill>
                <a:latin typeface="Times New Roman" charset="0"/>
              </a:rPr>
              <a:t>Handshaking between DMA controller and device controller uses: </a:t>
            </a:r>
            <a:r>
              <a:rPr lang="en-US" sz="2000" b="1" dirty="0">
                <a:solidFill>
                  <a:srgbClr val="0000FF"/>
                </a:solidFill>
                <a:latin typeface="Times New Roman" charset="0"/>
              </a:rPr>
              <a:t>DMA-request line</a:t>
            </a:r>
            <a:r>
              <a:rPr lang="en-US" sz="2000" dirty="0">
                <a:solidFill>
                  <a:srgbClr val="0000FF"/>
                </a:solidFill>
                <a:latin typeface="Times New Roman" charset="0"/>
              </a:rPr>
              <a:t> and </a:t>
            </a:r>
            <a:r>
              <a:rPr lang="en-US" sz="2000" b="1" dirty="0">
                <a:solidFill>
                  <a:srgbClr val="0000FF"/>
                </a:solidFill>
                <a:latin typeface="Times New Roman" charset="0"/>
              </a:rPr>
              <a:t>DMA-acknowledge line.</a:t>
            </a:r>
            <a:endParaRPr lang="en-US" sz="2000" dirty="0">
              <a:solidFill>
                <a:srgbClr val="0000FF"/>
              </a:solidFill>
              <a:latin typeface="Times New Roman" charset="0"/>
            </a:endParaRPr>
          </a:p>
          <a:p>
            <a:pPr marL="819150" lvl="1" algn="just">
              <a:spcBef>
                <a:spcPts val="100"/>
              </a:spcBef>
              <a:spcAft>
                <a:spcPts val="100"/>
              </a:spcAft>
              <a:defRPr/>
            </a:pPr>
            <a:r>
              <a:rPr lang="en-US" sz="1800" dirty="0">
                <a:solidFill>
                  <a:srgbClr val="0000FF"/>
                </a:solidFill>
                <a:latin typeface="Times New Roman" charset="0"/>
              </a:rPr>
              <a:t>Device  controller puts a signal on the </a:t>
            </a:r>
            <a:r>
              <a:rPr lang="en-US" sz="1800" b="1" dirty="0">
                <a:solidFill>
                  <a:srgbClr val="0000FF"/>
                </a:solidFill>
                <a:latin typeface="Times New Roman" charset="0"/>
              </a:rPr>
              <a:t>DMA-request line</a:t>
            </a:r>
            <a:r>
              <a:rPr lang="en-US" sz="1800" dirty="0">
                <a:solidFill>
                  <a:srgbClr val="0000FF"/>
                </a:solidFill>
                <a:latin typeface="Times New Roman" charset="0"/>
              </a:rPr>
              <a:t> when a word of data is available for transfer.</a:t>
            </a:r>
          </a:p>
          <a:p>
            <a:pPr marL="819150" lvl="1" algn="just">
              <a:spcBef>
                <a:spcPts val="100"/>
              </a:spcBef>
              <a:spcAft>
                <a:spcPts val="100"/>
              </a:spcAft>
              <a:defRPr/>
            </a:pPr>
            <a:r>
              <a:rPr lang="en-US" sz="1800" dirty="0">
                <a:solidFill>
                  <a:srgbClr val="0000FF"/>
                </a:solidFill>
                <a:latin typeface="Times New Roman" charset="0"/>
              </a:rPr>
              <a:t>Sensing the signal, DMA controller seizes the memory bus, sets the intended address on address bus, and puts a signal on the </a:t>
            </a:r>
            <a:r>
              <a:rPr lang="en-US" sz="1800" b="1" dirty="0">
                <a:solidFill>
                  <a:srgbClr val="0000FF"/>
                </a:solidFill>
                <a:latin typeface="Times New Roman" charset="0"/>
              </a:rPr>
              <a:t>DMA-acknowledge line.</a:t>
            </a:r>
            <a:endParaRPr lang="en-US" sz="1800" dirty="0">
              <a:solidFill>
                <a:srgbClr val="0000FF"/>
              </a:solidFill>
              <a:latin typeface="Times New Roman" charset="0"/>
            </a:endParaRPr>
          </a:p>
          <a:p>
            <a:pPr marL="819150" lvl="1">
              <a:spcBef>
                <a:spcPts val="100"/>
              </a:spcBef>
              <a:spcAft>
                <a:spcPts val="100"/>
              </a:spcAft>
              <a:defRPr/>
            </a:pPr>
            <a:r>
              <a:rPr lang="en-US" sz="1800" dirty="0">
                <a:solidFill>
                  <a:srgbClr val="0000FF"/>
                </a:solidFill>
                <a:latin typeface="Times New Roman" charset="0"/>
              </a:rPr>
              <a:t>When the device controller receives the </a:t>
            </a:r>
            <a:r>
              <a:rPr lang="en-US" sz="1800" b="1" dirty="0">
                <a:solidFill>
                  <a:srgbClr val="0000FF"/>
                </a:solidFill>
                <a:latin typeface="Times New Roman" charset="0"/>
              </a:rPr>
              <a:t>DMA-acknowledge signal</a:t>
            </a:r>
            <a:r>
              <a:rPr lang="en-US" sz="1800" dirty="0">
                <a:solidFill>
                  <a:srgbClr val="0000FF"/>
                </a:solidFill>
                <a:latin typeface="Times New Roman" charset="0"/>
              </a:rPr>
              <a:t>, it transfers the data word to memory, and removes the </a:t>
            </a:r>
            <a:r>
              <a:rPr lang="en-US" sz="1800" b="1" dirty="0">
                <a:solidFill>
                  <a:srgbClr val="0000FF"/>
                </a:solidFill>
                <a:latin typeface="Times New Roman" charset="0"/>
              </a:rPr>
              <a:t>DMA-request signal</a:t>
            </a:r>
            <a:r>
              <a:rPr lang="en-US" sz="1800" dirty="0">
                <a:solidFill>
                  <a:srgbClr val="0000FF"/>
                </a:solidFill>
                <a:latin typeface="Times New Roman" charset="0"/>
              </a:rPr>
              <a:t>.</a:t>
            </a:r>
          </a:p>
          <a:p>
            <a:pPr marL="419100">
              <a:spcBef>
                <a:spcPts val="100"/>
              </a:spcBef>
              <a:spcAft>
                <a:spcPts val="100"/>
              </a:spcAft>
              <a:defRPr/>
            </a:pPr>
            <a:r>
              <a:rPr lang="en-US" sz="2200" dirty="0">
                <a:solidFill>
                  <a:srgbClr val="0000FF"/>
                </a:solidFill>
                <a:latin typeface="Times New Roman" charset="0"/>
              </a:rPr>
              <a:t>After finishing the entire transfer, DMA controller interrupts the CPU.</a:t>
            </a:r>
          </a:p>
        </p:txBody>
      </p:sp>
    </p:spTree>
    <p:extLst>
      <p:ext uri="{BB962C8B-B14F-4D97-AF65-F5344CB8AC3E}">
        <p14:creationId xmlns:p14="http://schemas.microsoft.com/office/powerpoint/2010/main" val="13532546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3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2703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3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" dur="500"/>
                                        <p:tgtEl>
                                          <p:spTgt spid="2703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3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3" dur="500"/>
                                        <p:tgtEl>
                                          <p:spTgt spid="2703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33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6" dur="500"/>
                                        <p:tgtEl>
                                          <p:spTgt spid="27033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33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1" dur="500"/>
                                        <p:tgtEl>
                                          <p:spTgt spid="27033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33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4" dur="500"/>
                                        <p:tgtEl>
                                          <p:spTgt spid="27033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33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27033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33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0" dur="500"/>
                                        <p:tgtEl>
                                          <p:spTgt spid="27033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33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5" dur="500"/>
                                        <p:tgtEl>
                                          <p:spTgt spid="27033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15D3409-6364-9B4D-9BE1-F48B78A2084D}" type="slidenum">
              <a:rPr lang="en-AU"/>
              <a:pPr>
                <a:defRPr/>
              </a:pPr>
              <a:t>3</a:t>
            </a:fld>
            <a:endParaRPr lang="en-AU"/>
          </a:p>
        </p:txBody>
      </p:sp>
      <p:sp>
        <p:nvSpPr>
          <p:cNvPr id="218114" name="Rectangle 2"/>
          <p:cNvSpPr>
            <a:spLocks noGrp="1" noChangeArrowheads="1"/>
          </p:cNvSpPr>
          <p:nvPr>
            <p:ph type="title"/>
          </p:nvPr>
        </p:nvSpPr>
        <p:spPr>
          <a:xfrm>
            <a:off x="1752600" y="152401"/>
            <a:ext cx="8610600" cy="519113"/>
          </a:xfrm>
          <a:extLst>
            <a:ext uri="{91240B29-F687-4f45-9708-019B960494DF}">
              <a14:hiddenLine xmlns:a14="http://schemas.microsoft.com/office/drawing/2010/main" xmlns="" w="9525" cap="flat" cmpd="sng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defRPr/>
            </a:pPr>
            <a:r>
              <a:rPr lang="en-US" sz="2800" b="1" dirty="0">
                <a:solidFill>
                  <a:schemeClr val="accent1"/>
                </a:solidFill>
                <a:latin typeface="Times New Roman" charset="0"/>
              </a:rPr>
              <a:t>DMA (cont.)</a:t>
            </a:r>
            <a:endParaRPr lang="en-US" sz="2800" b="1" dirty="0">
              <a:solidFill>
                <a:srgbClr val="007000"/>
              </a:solidFill>
              <a:latin typeface="Times New Roman" charset="0"/>
            </a:endParaRPr>
          </a:p>
        </p:txBody>
      </p:sp>
      <p:sp>
        <p:nvSpPr>
          <p:cNvPr id="2181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828800" y="764704"/>
            <a:ext cx="8610600" cy="2592288"/>
          </a:xfrm>
        </p:spPr>
        <p:txBody>
          <a:bodyPr/>
          <a:lstStyle/>
          <a:p>
            <a:pPr marL="0" indent="0" algn="just">
              <a:buNone/>
              <a:defRPr/>
            </a:pPr>
            <a:r>
              <a:rPr lang="en-AU" sz="2000" b="1" noProof="1">
                <a:solidFill>
                  <a:srgbClr val="0000FF"/>
                </a:solidFill>
                <a:latin typeface="Times New Roman" charset="0"/>
              </a:rPr>
              <a:t>Steps:</a:t>
            </a:r>
            <a:endParaRPr sz="2000" b="1" noProof="1">
              <a:solidFill>
                <a:srgbClr val="0000FF"/>
              </a:solidFill>
              <a:latin typeface="Times New Roman" charset="0"/>
            </a:endParaRPr>
          </a:p>
          <a:p>
            <a:pPr eaLnBrk="1" hangingPunct="1">
              <a:lnSpc>
                <a:spcPct val="90000"/>
              </a:lnSpc>
              <a:defRPr/>
            </a:pPr>
            <a:r>
              <a:rPr sz="2000" noProof="1">
                <a:solidFill>
                  <a:srgbClr val="0000FF"/>
                </a:solidFill>
                <a:latin typeface="Times New Roman" charset="0"/>
              </a:rPr>
              <a:t>OS (Device driver) sets DMA controller registers to set source and destination addresses, read/write request, and transfer length.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sz="2000" noProof="1">
                <a:solidFill>
                  <a:srgbClr val="0000FF"/>
                </a:solidFill>
                <a:latin typeface="Times New Roman" charset="0"/>
              </a:rPr>
              <a:t>DMA controller transfers blocks of data from buffer storage directly to main memory without CPU intervention – CPU is free to do other tasks.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sz="2000" noProof="1">
                <a:solidFill>
                  <a:srgbClr val="0000FF"/>
                </a:solidFill>
                <a:latin typeface="Times New Roman" charset="0"/>
              </a:rPr>
              <a:t>DMA controller interrupts CPU after transfer has completed.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sz="1600" noProof="1">
                <a:solidFill>
                  <a:srgbClr val="0000FF"/>
                </a:solidFill>
                <a:latin typeface="Times New Roman" charset="0"/>
              </a:rPr>
              <a:t>Only one interrupt is generated per block rather than one interrupt per byte.</a:t>
            </a:r>
          </a:p>
        </p:txBody>
      </p:sp>
      <p:grpSp>
        <p:nvGrpSpPr>
          <p:cNvPr id="109572" name="Group 4"/>
          <p:cNvGrpSpPr>
            <a:grpSpLocks/>
          </p:cNvGrpSpPr>
          <p:nvPr/>
        </p:nvGrpSpPr>
        <p:grpSpPr bwMode="auto">
          <a:xfrm>
            <a:off x="2855640" y="4149080"/>
            <a:ext cx="6629400" cy="1981200"/>
            <a:chOff x="2601" y="2239"/>
            <a:chExt cx="6390" cy="2245"/>
          </a:xfrm>
        </p:grpSpPr>
        <p:sp>
          <p:nvSpPr>
            <p:cNvPr id="109573" name="Text Box 5"/>
            <p:cNvSpPr txBox="1">
              <a:spLocks noChangeArrowheads="1"/>
            </p:cNvSpPr>
            <p:nvPr/>
          </p:nvSpPr>
          <p:spPr bwMode="auto">
            <a:xfrm>
              <a:off x="2601" y="2419"/>
              <a:ext cx="1200" cy="7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9pPr>
            </a:lstStyle>
            <a:p>
              <a:pPr algn="ctr"/>
              <a:r>
                <a:rPr noProof="1">
                  <a:solidFill>
                    <a:srgbClr val="0000FF"/>
                  </a:solidFill>
                </a:rPr>
                <a:t>CPU</a:t>
              </a:r>
            </a:p>
          </p:txBody>
        </p:sp>
        <p:sp>
          <p:nvSpPr>
            <p:cNvPr id="109574" name="Text Box 6"/>
            <p:cNvSpPr txBox="1">
              <a:spLocks noChangeArrowheads="1"/>
            </p:cNvSpPr>
            <p:nvPr/>
          </p:nvSpPr>
          <p:spPr bwMode="auto">
            <a:xfrm>
              <a:off x="4761" y="2419"/>
              <a:ext cx="1536" cy="77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9pPr>
            </a:lstStyle>
            <a:p>
              <a:pPr algn="ctr"/>
              <a:r>
                <a:rPr lang="en-AU" dirty="0">
                  <a:solidFill>
                    <a:srgbClr val="0000FF"/>
                  </a:solidFill>
                </a:rPr>
                <a:t>Memory</a:t>
              </a:r>
            </a:p>
          </p:txBody>
        </p:sp>
        <p:sp>
          <p:nvSpPr>
            <p:cNvPr id="109575" name="Text Box 7"/>
            <p:cNvSpPr txBox="1">
              <a:spLocks noChangeArrowheads="1"/>
            </p:cNvSpPr>
            <p:nvPr/>
          </p:nvSpPr>
          <p:spPr bwMode="auto">
            <a:xfrm>
              <a:off x="7461" y="2239"/>
              <a:ext cx="1530" cy="95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9pPr>
            </a:lstStyle>
            <a:p>
              <a:pPr algn="ctr"/>
              <a:r>
                <a:rPr lang="en-AU">
                  <a:solidFill>
                    <a:srgbClr val="0000FF"/>
                  </a:solidFill>
                </a:rPr>
                <a:t>I/O Devices</a:t>
              </a:r>
            </a:p>
          </p:txBody>
        </p:sp>
        <p:sp>
          <p:nvSpPr>
            <p:cNvPr id="109576" name="Line 8"/>
            <p:cNvSpPr>
              <a:spLocks noChangeShapeType="1"/>
            </p:cNvSpPr>
            <p:nvPr/>
          </p:nvSpPr>
          <p:spPr bwMode="auto">
            <a:xfrm>
              <a:off x="3861" y="2763"/>
              <a:ext cx="90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solidFill>
                  <a:srgbClr val="0000FF"/>
                </a:solidFill>
              </a:endParaRPr>
            </a:p>
          </p:txBody>
        </p:sp>
        <p:sp>
          <p:nvSpPr>
            <p:cNvPr id="109577" name="Line 9"/>
            <p:cNvSpPr>
              <a:spLocks noChangeShapeType="1"/>
            </p:cNvSpPr>
            <p:nvPr/>
          </p:nvSpPr>
          <p:spPr bwMode="auto">
            <a:xfrm>
              <a:off x="6381" y="2763"/>
              <a:ext cx="1035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solidFill>
                  <a:srgbClr val="0000FF"/>
                </a:solidFill>
              </a:endParaRPr>
            </a:p>
          </p:txBody>
        </p:sp>
        <p:sp>
          <p:nvSpPr>
            <p:cNvPr id="109578" name="Text Box 10"/>
            <p:cNvSpPr txBox="1">
              <a:spLocks noChangeArrowheads="1"/>
            </p:cNvSpPr>
            <p:nvPr/>
          </p:nvSpPr>
          <p:spPr bwMode="auto">
            <a:xfrm>
              <a:off x="4401" y="3959"/>
              <a:ext cx="2430" cy="52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9pPr>
            </a:lstStyle>
            <a:p>
              <a:r>
                <a:rPr lang="en-AU">
                  <a:solidFill>
                    <a:srgbClr val="0000FF"/>
                  </a:solidFill>
                </a:rPr>
                <a:t>I/O instructions</a:t>
              </a:r>
            </a:p>
          </p:txBody>
        </p:sp>
        <p:sp>
          <p:nvSpPr>
            <p:cNvPr id="109579" name="Line 11"/>
            <p:cNvSpPr>
              <a:spLocks noChangeShapeType="1"/>
            </p:cNvSpPr>
            <p:nvPr/>
          </p:nvSpPr>
          <p:spPr bwMode="auto">
            <a:xfrm>
              <a:off x="3141" y="3091"/>
              <a:ext cx="0" cy="72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solidFill>
                  <a:srgbClr val="0000FF"/>
                </a:solidFill>
              </a:endParaRPr>
            </a:p>
          </p:txBody>
        </p:sp>
        <p:sp>
          <p:nvSpPr>
            <p:cNvPr id="109580" name="Line 12"/>
            <p:cNvSpPr>
              <a:spLocks noChangeShapeType="1"/>
            </p:cNvSpPr>
            <p:nvPr/>
          </p:nvSpPr>
          <p:spPr bwMode="auto">
            <a:xfrm>
              <a:off x="3141" y="3779"/>
              <a:ext cx="504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solidFill>
                  <a:srgbClr val="0000FF"/>
                </a:solidFill>
              </a:endParaRPr>
            </a:p>
          </p:txBody>
        </p:sp>
        <p:sp>
          <p:nvSpPr>
            <p:cNvPr id="109581" name="Line 13"/>
            <p:cNvSpPr>
              <a:spLocks noChangeShapeType="1"/>
            </p:cNvSpPr>
            <p:nvPr/>
          </p:nvSpPr>
          <p:spPr bwMode="auto">
            <a:xfrm flipV="1">
              <a:off x="8181" y="3091"/>
              <a:ext cx="0" cy="72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solidFill>
                  <a:srgbClr val="0000FF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347327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1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2181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1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2181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1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5" dur="500"/>
                                        <p:tgtEl>
                                          <p:spTgt spid="2181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8F74A01-E86B-354D-B38C-D1AD28F26472}" type="slidenum">
              <a:rPr lang="en-AU"/>
              <a:pPr>
                <a:defRPr/>
              </a:pPr>
              <a:t>4</a:t>
            </a:fld>
            <a:endParaRPr lang="en-AU"/>
          </a:p>
        </p:txBody>
      </p:sp>
      <p:sp>
        <p:nvSpPr>
          <p:cNvPr id="271362" name="Rectangle 2"/>
          <p:cNvSpPr>
            <a:spLocks noGrp="1" noChangeArrowheads="1"/>
          </p:cNvSpPr>
          <p:nvPr>
            <p:ph type="title"/>
          </p:nvPr>
        </p:nvSpPr>
        <p:spPr>
          <a:xfrm>
            <a:off x="1703512" y="116633"/>
            <a:ext cx="8610600" cy="830997"/>
          </a:xfrm>
        </p:spPr>
        <p:txBody>
          <a:bodyPr/>
          <a:lstStyle/>
          <a:p>
            <a:pPr eaLnBrk="1" hangingPunct="1">
              <a:defRPr/>
            </a:pPr>
            <a:r>
              <a:rPr lang="en-US" sz="2800" b="1" dirty="0">
                <a:solidFill>
                  <a:schemeClr val="accent1"/>
                </a:solidFill>
                <a:latin typeface="Times New Roman" charset="0"/>
              </a:rPr>
              <a:t>Steps in DMA Transfer </a:t>
            </a:r>
            <a:br>
              <a:rPr lang="en-US" sz="2800" b="1" dirty="0">
                <a:solidFill>
                  <a:schemeClr val="accent1"/>
                </a:solidFill>
                <a:latin typeface="Times New Roman" charset="0"/>
              </a:rPr>
            </a:br>
            <a:r>
              <a:rPr lang="en-US" sz="2000" b="1" dirty="0">
                <a:solidFill>
                  <a:schemeClr val="accent1"/>
                </a:solidFill>
                <a:latin typeface="Times New Roman" charset="0"/>
              </a:rPr>
              <a:t>Fig. 13.5  (textbook)</a:t>
            </a:r>
            <a:endParaRPr lang="en-US" sz="2000" b="1" dirty="0">
              <a:solidFill>
                <a:srgbClr val="000000"/>
              </a:solidFill>
              <a:latin typeface="Times New Roman" charset="0"/>
            </a:endParaRPr>
          </a:p>
        </p:txBody>
      </p:sp>
      <p:pic>
        <p:nvPicPr>
          <p:cNvPr id="271364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29" t="12831" r="829" b="12804"/>
          <a:stretch>
            <a:fillRect/>
          </a:stretch>
        </p:blipFill>
        <p:spPr bwMode="auto">
          <a:xfrm>
            <a:off x="2063552" y="1268760"/>
            <a:ext cx="8128698" cy="5022502"/>
          </a:xfrm>
          <a:prstGeom prst="rect">
            <a:avLst/>
          </a:prstGeom>
          <a:noFill/>
          <a:ln w="57150" cmpd="thickThin">
            <a:solidFill>
              <a:srgbClr val="660066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FFCC99">
                      <a:alpha val="74998"/>
                    </a:srgbClr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8448513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CCA7223-0720-E14B-984F-835149EC9728}" type="slidenum">
              <a:rPr lang="en-AU"/>
              <a:pPr>
                <a:defRPr/>
              </a:pPr>
              <a:t>5</a:t>
            </a:fld>
            <a:endParaRPr lang="en-AU"/>
          </a:p>
        </p:txBody>
      </p:sp>
      <p:sp>
        <p:nvSpPr>
          <p:cNvPr id="384002" name="Rectangle 2"/>
          <p:cNvSpPr>
            <a:spLocks noGrp="1" noChangeArrowheads="1"/>
          </p:cNvSpPr>
          <p:nvPr>
            <p:ph type="title"/>
          </p:nvPr>
        </p:nvSpPr>
        <p:spPr>
          <a:xfrm>
            <a:off x="1752600" y="152401"/>
            <a:ext cx="8610600" cy="519113"/>
          </a:xfrm>
          <a:extLst>
            <a:ext uri="{91240B29-F687-4f45-9708-019B960494DF}">
              <a14:hiddenLine xmlns:a14="http://schemas.microsoft.com/office/drawing/2010/main" xmlns="" w="9525" cap="flat" cmpd="sng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defRPr/>
            </a:pPr>
            <a:r>
              <a:rPr lang="en-AU" sz="2800" b="1" noProof="1">
                <a:solidFill>
                  <a:srgbClr val="007000"/>
                </a:solidFill>
                <a:latin typeface="Times New Roman" charset="0"/>
              </a:rPr>
              <a:t>Computer-System Architecture</a:t>
            </a:r>
            <a:endParaRPr lang="en-AU" sz="2800" b="1" dirty="0">
              <a:solidFill>
                <a:srgbClr val="007000"/>
              </a:solidFill>
              <a:latin typeface="Times New Roman" charset="0"/>
            </a:endParaRPr>
          </a:p>
        </p:txBody>
      </p:sp>
      <p:sp>
        <p:nvSpPr>
          <p:cNvPr id="3840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828800" y="914400"/>
            <a:ext cx="8610600" cy="4114800"/>
          </a:xfrm>
        </p:spPr>
        <p:txBody>
          <a:bodyPr/>
          <a:lstStyle/>
          <a:p>
            <a:pPr eaLnBrk="1" hangingPunct="1">
              <a:defRPr/>
            </a:pPr>
            <a:r>
              <a:rPr lang="en-AU" sz="2400" noProof="1">
                <a:solidFill>
                  <a:srgbClr val="0000FF"/>
                </a:solidFill>
                <a:latin typeface="Times New Roman" charset="0"/>
              </a:rPr>
              <a:t>A single-processor system contains only one CPU to execute general purpose instructions</a:t>
            </a:r>
          </a:p>
          <a:p>
            <a:pPr marL="627063" lvl="1" indent="-271463">
              <a:defRPr/>
            </a:pPr>
            <a:r>
              <a:rPr lang="en-AU" sz="2000" noProof="1">
                <a:solidFill>
                  <a:srgbClr val="0000FF"/>
                </a:solidFill>
                <a:latin typeface="Times New Roman" charset="0"/>
              </a:rPr>
              <a:t>However, it also contains special purpose processors</a:t>
            </a:r>
          </a:p>
          <a:p>
            <a:pPr marL="896938" lvl="2" indent="-269875">
              <a:defRPr/>
            </a:pPr>
            <a:r>
              <a:rPr lang="en-AU" sz="1600" noProof="1">
                <a:solidFill>
                  <a:srgbClr val="0000FF"/>
                </a:solidFill>
                <a:latin typeface="Times New Roman" charset="0"/>
              </a:rPr>
              <a:t>E.g., disk, keyboard, DMA, graphic controllers</a:t>
            </a:r>
          </a:p>
          <a:p>
            <a:pPr marL="896938" lvl="2" indent="-269875">
              <a:defRPr/>
            </a:pPr>
            <a:r>
              <a:rPr lang="en-AU" sz="1600" noProof="1">
                <a:solidFill>
                  <a:srgbClr val="0000FF"/>
                </a:solidFill>
                <a:latin typeface="Times New Roman" charset="0"/>
              </a:rPr>
              <a:t>These specialized processors do not run user processes</a:t>
            </a:r>
          </a:p>
          <a:p>
            <a:pPr marL="896938" lvl="2" indent="-269875">
              <a:defRPr/>
            </a:pPr>
            <a:r>
              <a:rPr lang="en-AU" sz="1600" noProof="1">
                <a:solidFill>
                  <a:srgbClr val="0000FF"/>
                </a:solidFill>
                <a:latin typeface="Times New Roman" charset="0"/>
              </a:rPr>
              <a:t>OS may be able to manage the processors, e.g., task disk controllers to use given scheduling algorithms.</a:t>
            </a:r>
          </a:p>
          <a:p>
            <a:pPr marL="355600" indent="-355600">
              <a:spcBef>
                <a:spcPts val="0"/>
              </a:spcBef>
              <a:spcAft>
                <a:spcPts val="600"/>
              </a:spcAft>
              <a:defRPr/>
            </a:pPr>
            <a:r>
              <a:rPr lang="en-AU" sz="2400" noProof="1">
                <a:solidFill>
                  <a:srgbClr val="0000FF"/>
                </a:solidFill>
                <a:latin typeface="Times New Roman" charset="0"/>
              </a:rPr>
              <a:t>A multiprocessor system contains two or more processors working together</a:t>
            </a:r>
          </a:p>
          <a:p>
            <a:pPr marL="857250" lvl="1">
              <a:defRPr/>
            </a:pPr>
            <a:r>
              <a:rPr lang="en-AU" sz="2000" noProof="1">
                <a:solidFill>
                  <a:srgbClr val="0000FF"/>
                </a:solidFill>
                <a:latin typeface="Times New Roman" charset="0"/>
              </a:rPr>
              <a:t>They may share computer bus, system clock, memory, I/O devices</a:t>
            </a:r>
          </a:p>
          <a:p>
            <a:pPr marL="857250" lvl="1">
              <a:defRPr/>
            </a:pPr>
            <a:r>
              <a:rPr lang="en-AU" sz="2000" noProof="1">
                <a:solidFill>
                  <a:srgbClr val="0000FF"/>
                </a:solidFill>
                <a:latin typeface="Times New Roman" charset="0"/>
              </a:rPr>
              <a:t>Also called parallel system or multicore system </a:t>
            </a:r>
          </a:p>
          <a:p>
            <a:pPr marL="514350" lvl="1" indent="0">
              <a:buNone/>
              <a:defRPr/>
            </a:pPr>
            <a:endParaRPr lang="en-AU" sz="2000" noProof="1">
              <a:solidFill>
                <a:srgbClr val="0000FF"/>
              </a:solidFill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301659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0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3840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00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" dur="500"/>
                                        <p:tgtEl>
                                          <p:spTgt spid="38400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00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3" dur="500"/>
                                        <p:tgtEl>
                                          <p:spTgt spid="38400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CCA7223-0720-E14B-984F-835149EC9728}" type="slidenum">
              <a:rPr lang="en-AU"/>
              <a:pPr>
                <a:defRPr/>
              </a:pPr>
              <a:t>6</a:t>
            </a:fld>
            <a:endParaRPr lang="en-AU"/>
          </a:p>
        </p:txBody>
      </p:sp>
      <p:sp>
        <p:nvSpPr>
          <p:cNvPr id="384002" name="Rectangle 2"/>
          <p:cNvSpPr>
            <a:spLocks noGrp="1" noChangeArrowheads="1"/>
          </p:cNvSpPr>
          <p:nvPr>
            <p:ph type="title"/>
          </p:nvPr>
        </p:nvSpPr>
        <p:spPr>
          <a:xfrm>
            <a:off x="1752600" y="152401"/>
            <a:ext cx="8610600" cy="519113"/>
          </a:xfrm>
          <a:extLst>
            <a:ext uri="{91240B29-F687-4f45-9708-019B960494DF}">
              <a14:hiddenLine xmlns:a14="http://schemas.microsoft.com/office/drawing/2010/main" xmlns="" w="9525" cap="flat" cmpd="sng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defRPr/>
            </a:pPr>
            <a:r>
              <a:rPr lang="en-AU" sz="2800" b="1" noProof="1">
                <a:solidFill>
                  <a:srgbClr val="007000"/>
                </a:solidFill>
                <a:latin typeface="Times New Roman" charset="0"/>
              </a:rPr>
              <a:t>Multiprocessor (cont. )</a:t>
            </a:r>
            <a:endParaRPr lang="en-AU" sz="2800" b="1" dirty="0">
              <a:solidFill>
                <a:srgbClr val="007000"/>
              </a:solidFill>
              <a:latin typeface="Times New Roman" charset="0"/>
            </a:endParaRPr>
          </a:p>
        </p:txBody>
      </p:sp>
      <p:sp>
        <p:nvSpPr>
          <p:cNvPr id="3840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703512" y="914400"/>
            <a:ext cx="8735888" cy="5034880"/>
          </a:xfrm>
        </p:spPr>
        <p:txBody>
          <a:bodyPr/>
          <a:lstStyle/>
          <a:p>
            <a:pPr eaLnBrk="1" hangingPunct="1">
              <a:defRPr/>
            </a:pPr>
            <a:r>
              <a:rPr lang="en-AU" sz="2400" noProof="1">
                <a:solidFill>
                  <a:srgbClr val="0000FF"/>
                </a:solidFill>
                <a:latin typeface="Times New Roman" charset="0"/>
              </a:rPr>
              <a:t>Three main advantages of multiprocessor system</a:t>
            </a:r>
          </a:p>
          <a:p>
            <a:pPr lvl="1" eaLnBrk="1" hangingPunct="1">
              <a:defRPr/>
            </a:pPr>
            <a:r>
              <a:rPr lang="en-AU" sz="2000" b="1" noProof="1">
                <a:solidFill>
                  <a:srgbClr val="0000FF"/>
                </a:solidFill>
                <a:latin typeface="Times New Roman" charset="0"/>
              </a:rPr>
              <a:t>Increased throughput</a:t>
            </a:r>
            <a:r>
              <a:rPr lang="en-AU" sz="2000" noProof="1">
                <a:solidFill>
                  <a:srgbClr val="0000FF"/>
                </a:solidFill>
                <a:latin typeface="Times New Roman" charset="0"/>
              </a:rPr>
              <a:t>: get more work done in less time</a:t>
            </a:r>
          </a:p>
          <a:p>
            <a:pPr lvl="2" eaLnBrk="1" hangingPunct="1">
              <a:defRPr/>
            </a:pPr>
            <a:r>
              <a:rPr lang="en-AU" sz="1800" noProof="1">
                <a:solidFill>
                  <a:srgbClr val="0000FF"/>
                </a:solidFill>
                <a:latin typeface="Times New Roman" charset="0"/>
              </a:rPr>
              <a:t>The speed up in </a:t>
            </a:r>
            <a:r>
              <a:rPr lang="en-AU" sz="1800" i="1" noProof="1">
                <a:solidFill>
                  <a:srgbClr val="0000FF"/>
                </a:solidFill>
                <a:latin typeface="Times New Roman" charset="0"/>
              </a:rPr>
              <a:t>n</a:t>
            </a:r>
            <a:r>
              <a:rPr lang="en-AU" sz="1800" noProof="1">
                <a:solidFill>
                  <a:srgbClr val="0000FF"/>
                </a:solidFill>
                <a:latin typeface="Times New Roman" charset="0"/>
              </a:rPr>
              <a:t> processor system is NOT </a:t>
            </a:r>
            <a:r>
              <a:rPr lang="en-AU" sz="1800" i="1" noProof="1">
                <a:solidFill>
                  <a:srgbClr val="0000FF"/>
                </a:solidFill>
                <a:latin typeface="Times New Roman" charset="0"/>
              </a:rPr>
              <a:t>n</a:t>
            </a:r>
            <a:r>
              <a:rPr lang="en-AU" sz="1800" noProof="1">
                <a:solidFill>
                  <a:srgbClr val="0000FF"/>
                </a:solidFill>
                <a:latin typeface="Times New Roman" charset="0"/>
              </a:rPr>
              <a:t> due to overhead</a:t>
            </a:r>
            <a:endParaRPr lang="en-AU" sz="1800" i="1" noProof="1">
              <a:solidFill>
                <a:srgbClr val="0000FF"/>
              </a:solidFill>
              <a:latin typeface="Times New Roman" charset="0"/>
            </a:endParaRPr>
          </a:p>
          <a:p>
            <a:pPr lvl="1" eaLnBrk="1" hangingPunct="1">
              <a:defRPr/>
            </a:pPr>
            <a:r>
              <a:rPr lang="en-AU" sz="2000" b="1" noProof="1">
                <a:solidFill>
                  <a:srgbClr val="0000FF"/>
                </a:solidFill>
                <a:latin typeface="Times New Roman" charset="0"/>
              </a:rPr>
              <a:t>Economy of scale</a:t>
            </a:r>
            <a:r>
              <a:rPr lang="en-AU" sz="2000" noProof="1">
                <a:solidFill>
                  <a:srgbClr val="0000FF"/>
                </a:solidFill>
                <a:latin typeface="Times New Roman" charset="0"/>
              </a:rPr>
              <a:t>: I/O devices, memory storage, and power supplies can be shared</a:t>
            </a:r>
          </a:p>
          <a:p>
            <a:pPr lvl="1" eaLnBrk="1" hangingPunct="1">
              <a:defRPr/>
            </a:pPr>
            <a:r>
              <a:rPr lang="en-AU" sz="2000" b="1" noProof="1">
                <a:solidFill>
                  <a:srgbClr val="0000FF"/>
                </a:solidFill>
                <a:latin typeface="Times New Roman" charset="0"/>
              </a:rPr>
              <a:t>Increased reliability</a:t>
            </a:r>
            <a:r>
              <a:rPr lang="en-AU" sz="2000" noProof="1">
                <a:solidFill>
                  <a:srgbClr val="0000FF"/>
                </a:solidFill>
                <a:latin typeface="Times New Roman" charset="0"/>
              </a:rPr>
              <a:t>: failure of one processor does not make the whole system down</a:t>
            </a:r>
          </a:p>
          <a:p>
            <a:pPr lvl="2" eaLnBrk="1" hangingPunct="1">
              <a:defRPr/>
            </a:pPr>
            <a:r>
              <a:rPr lang="en-AU" sz="1800" b="1" noProof="1">
                <a:solidFill>
                  <a:srgbClr val="0000FF"/>
                </a:solidFill>
                <a:latin typeface="Times New Roman" charset="0"/>
              </a:rPr>
              <a:t>Graceful degradation: </a:t>
            </a:r>
            <a:r>
              <a:rPr lang="en-AU" sz="1800" noProof="1">
                <a:solidFill>
                  <a:srgbClr val="0000FF"/>
                </a:solidFill>
                <a:latin typeface="Times New Roman" charset="0"/>
              </a:rPr>
              <a:t>the system can perform operations proportional to the level of operations of the surviving parts of the system</a:t>
            </a:r>
          </a:p>
          <a:p>
            <a:pPr lvl="2" eaLnBrk="1" hangingPunct="1">
              <a:defRPr/>
            </a:pPr>
            <a:r>
              <a:rPr lang="en-AU" sz="1800" b="1" noProof="1">
                <a:solidFill>
                  <a:srgbClr val="0000FF"/>
                </a:solidFill>
                <a:latin typeface="Times New Roman" charset="0"/>
              </a:rPr>
              <a:t>Fault-tolerant: </a:t>
            </a:r>
            <a:r>
              <a:rPr lang="en-AU" sz="1800" noProof="1">
                <a:solidFill>
                  <a:srgbClr val="0000FF"/>
                </a:solidFill>
                <a:latin typeface="Times New Roman" charset="0"/>
              </a:rPr>
              <a:t>the system can continue its function in the event of component failures </a:t>
            </a:r>
          </a:p>
          <a:p>
            <a:pPr marL="1439863" lvl="3" indent="-271463">
              <a:defRPr/>
            </a:pPr>
            <a:r>
              <a:rPr lang="en-AU" noProof="1">
                <a:solidFill>
                  <a:srgbClr val="0000FF"/>
                </a:solidFill>
                <a:latin typeface="Times New Roman" charset="0"/>
              </a:rPr>
              <a:t>Require failure detection, diagnoses, and even correction</a:t>
            </a:r>
          </a:p>
          <a:p>
            <a:pPr marL="1439863" lvl="3" indent="-271463">
              <a:defRPr/>
            </a:pPr>
            <a:r>
              <a:rPr lang="en-AU" noProof="1">
                <a:solidFill>
                  <a:srgbClr val="0000FF"/>
                </a:solidFill>
                <a:latin typeface="Times New Roman" charset="0"/>
              </a:rPr>
              <a:t>May use multiple hardware and software duplicates to execute the same tasks in parallel, and take as output the result from the majority of the duplicates</a:t>
            </a:r>
          </a:p>
          <a:p>
            <a:pPr marL="514350" lvl="1" indent="0">
              <a:buNone/>
              <a:defRPr/>
            </a:pPr>
            <a:endParaRPr lang="en-AU" sz="2000" noProof="1">
              <a:solidFill>
                <a:srgbClr val="0000FF"/>
              </a:solidFill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651366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0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3840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0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3840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0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5" dur="500"/>
                                        <p:tgtEl>
                                          <p:spTgt spid="3840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00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8" dur="500"/>
                                        <p:tgtEl>
                                          <p:spTgt spid="38400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00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1" dur="500"/>
                                        <p:tgtEl>
                                          <p:spTgt spid="38400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00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4" dur="500"/>
                                        <p:tgtEl>
                                          <p:spTgt spid="38400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A888D4B-6701-1F44-A5CE-ACE456C98B18}" type="slidenum">
              <a:rPr lang="en-AU"/>
              <a:pPr>
                <a:defRPr/>
              </a:pPr>
              <a:t>7</a:t>
            </a:fld>
            <a:endParaRPr lang="en-AU"/>
          </a:p>
        </p:txBody>
      </p:sp>
      <p:sp>
        <p:nvSpPr>
          <p:cNvPr id="388098" name="Rectangle 2"/>
          <p:cNvSpPr>
            <a:spLocks noGrp="1" noChangeArrowheads="1"/>
          </p:cNvSpPr>
          <p:nvPr>
            <p:ph type="title"/>
          </p:nvPr>
        </p:nvSpPr>
        <p:spPr>
          <a:xfrm>
            <a:off x="1752600" y="152401"/>
            <a:ext cx="8610600" cy="519113"/>
          </a:xfrm>
          <a:extLst>
            <a:ext uri="{91240B29-F687-4f45-9708-019B960494DF}">
              <a14:hiddenLine xmlns:a14="http://schemas.microsoft.com/office/drawing/2010/main" xmlns="" w="9525" cap="flat" cmpd="sng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defRPr/>
            </a:pPr>
            <a:r>
              <a:rPr sz="2800" b="1" noProof="1">
                <a:solidFill>
                  <a:srgbClr val="007000"/>
                </a:solidFill>
                <a:latin typeface="Times New Roman" charset="0"/>
              </a:rPr>
              <a:t>Multiprocessor (cont.)</a:t>
            </a:r>
            <a:endParaRPr lang="en-AU" sz="2800" b="1" dirty="0">
              <a:solidFill>
                <a:srgbClr val="007000"/>
              </a:solidFill>
              <a:latin typeface="Times New Roman" charset="0"/>
            </a:endParaRPr>
          </a:p>
        </p:txBody>
      </p:sp>
      <p:sp>
        <p:nvSpPr>
          <p:cNvPr id="3880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703512" y="836712"/>
            <a:ext cx="8826624" cy="5472608"/>
          </a:xfrm>
        </p:spPr>
        <p:txBody>
          <a:bodyPr/>
          <a:lstStyle/>
          <a:p>
            <a:pPr eaLnBrk="1" hangingPunct="1">
              <a:lnSpc>
                <a:spcPct val="90000"/>
              </a:lnSpc>
              <a:defRPr/>
            </a:pPr>
            <a:r>
              <a:rPr lang="en-AU" sz="2400" noProof="1">
                <a:solidFill>
                  <a:srgbClr val="0000FF"/>
                </a:solidFill>
                <a:latin typeface="Times New Roman" charset="0"/>
              </a:rPr>
              <a:t>Two types of multiprocessor system: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AU" sz="2000" noProof="1">
                <a:solidFill>
                  <a:srgbClr val="0000FF"/>
                </a:solidFill>
                <a:latin typeface="Times New Roman" charset="0"/>
              </a:rPr>
              <a:t>Asymmetric multiprocessing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sz="2000" noProof="1">
                <a:solidFill>
                  <a:srgbClr val="0000FF"/>
                </a:solidFill>
                <a:latin typeface="Times New Roman" charset="0"/>
              </a:rPr>
              <a:t>Symmetric multiprocessing (SMP)</a:t>
            </a:r>
            <a:endParaRPr lang="en-AU" sz="2000" noProof="1">
              <a:solidFill>
                <a:srgbClr val="0000FF"/>
              </a:solidFill>
              <a:latin typeface="Times New Roman" charset="0"/>
            </a:endParaRPr>
          </a:p>
          <a:p>
            <a:pPr eaLnBrk="1" hangingPunct="1">
              <a:lnSpc>
                <a:spcPct val="90000"/>
              </a:lnSpc>
              <a:defRPr/>
            </a:pPr>
            <a:r>
              <a:rPr lang="en-AU" sz="2400" noProof="1">
                <a:solidFill>
                  <a:srgbClr val="0000FF"/>
                </a:solidFill>
                <a:latin typeface="Times New Roman" charset="0"/>
              </a:rPr>
              <a:t>Asymmetric multiprocessing:</a:t>
            </a:r>
          </a:p>
          <a:p>
            <a:pPr lvl="1" eaLnBrk="1" hangingPunct="1">
              <a:lnSpc>
                <a:spcPct val="90000"/>
              </a:lnSpc>
              <a:buSzPct val="100000"/>
              <a:defRPr/>
            </a:pPr>
            <a:r>
              <a:rPr lang="en-AU" sz="2000" noProof="1">
                <a:solidFill>
                  <a:srgbClr val="0000FF"/>
                </a:solidFill>
                <a:latin typeface="Times New Roman" charset="0"/>
              </a:rPr>
              <a:t>Use a </a:t>
            </a:r>
            <a:r>
              <a:rPr lang="en-AU" sz="2000" b="1" noProof="1">
                <a:solidFill>
                  <a:srgbClr val="0000FF"/>
                </a:solidFill>
                <a:latin typeface="Times New Roman" charset="0"/>
              </a:rPr>
              <a:t>master</a:t>
            </a:r>
            <a:r>
              <a:rPr lang="en-AU" sz="2000" noProof="1">
                <a:solidFill>
                  <a:srgbClr val="0000FF"/>
                </a:solidFill>
                <a:latin typeface="Times New Roman" charset="0"/>
              </a:rPr>
              <a:t> processor to schedule and allocate work to (</a:t>
            </a:r>
            <a:r>
              <a:rPr lang="en-AU" sz="2000" b="1" noProof="1">
                <a:solidFill>
                  <a:srgbClr val="0000FF"/>
                </a:solidFill>
                <a:latin typeface="Times New Roman" charset="0"/>
              </a:rPr>
              <a:t>slave</a:t>
            </a:r>
            <a:r>
              <a:rPr lang="en-AU" sz="2000" noProof="1">
                <a:solidFill>
                  <a:srgbClr val="0000FF"/>
                </a:solidFill>
                <a:latin typeface="Times New Roman" charset="0"/>
              </a:rPr>
              <a:t>) processors. </a:t>
            </a:r>
          </a:p>
          <a:p>
            <a:pPr lvl="1" eaLnBrk="1" hangingPunct="1">
              <a:lnSpc>
                <a:spcPct val="90000"/>
              </a:lnSpc>
              <a:buSzPct val="100000"/>
              <a:defRPr/>
            </a:pPr>
            <a:r>
              <a:rPr lang="en-AU" sz="2000" noProof="1">
                <a:solidFill>
                  <a:srgbClr val="0000FF"/>
                </a:solidFill>
                <a:latin typeface="Times New Roman" charset="0"/>
              </a:rPr>
              <a:t>Each slave processor waits for instruction from the master or has predefined task</a:t>
            </a:r>
          </a:p>
          <a:p>
            <a:pPr lvl="1" eaLnBrk="1" hangingPunct="1">
              <a:lnSpc>
                <a:spcPct val="90000"/>
              </a:lnSpc>
              <a:buSzPct val="100000"/>
              <a:defRPr/>
            </a:pPr>
            <a:r>
              <a:rPr lang="en-AU" sz="2000" noProof="1">
                <a:solidFill>
                  <a:srgbClr val="0000FF"/>
                </a:solidFill>
                <a:latin typeface="Times New Roman" charset="0"/>
              </a:rPr>
              <a:t>More common in extremely large systems</a:t>
            </a:r>
            <a:endParaRPr lang="en-AU" sz="2000" dirty="0">
              <a:solidFill>
                <a:srgbClr val="0000FF"/>
              </a:solidFill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053717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0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3880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0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" dur="500"/>
                                        <p:tgtEl>
                                          <p:spTgt spid="3880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0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3" dur="500"/>
                                        <p:tgtEl>
                                          <p:spTgt spid="3880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0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6" dur="500"/>
                                        <p:tgtEl>
                                          <p:spTgt spid="3880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19580BE-E7E4-0946-92DC-CEA7D48CD3F3}" type="slidenum">
              <a:rPr lang="en-AU"/>
              <a:pPr>
                <a:defRPr/>
              </a:pPr>
              <a:t>8</a:t>
            </a:fld>
            <a:endParaRPr lang="en-AU"/>
          </a:p>
        </p:txBody>
      </p:sp>
      <p:sp>
        <p:nvSpPr>
          <p:cNvPr id="386050" name="Rectangle 2"/>
          <p:cNvSpPr>
            <a:spLocks noGrp="1" noChangeArrowheads="1"/>
          </p:cNvSpPr>
          <p:nvPr>
            <p:ph type="title"/>
          </p:nvPr>
        </p:nvSpPr>
        <p:spPr>
          <a:xfrm>
            <a:off x="1752600" y="152401"/>
            <a:ext cx="8610600" cy="519113"/>
          </a:xfrm>
          <a:extLst>
            <a:ext uri="{91240B29-F687-4f45-9708-019B960494DF}">
              <a14:hiddenLine xmlns:a14="http://schemas.microsoft.com/office/drawing/2010/main" xmlns="" w="9525" cap="flat" cmpd="sng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defRPr/>
            </a:pPr>
            <a:r>
              <a:rPr sz="2800" b="1" noProof="1">
                <a:solidFill>
                  <a:srgbClr val="007000"/>
                </a:solidFill>
                <a:latin typeface="Times New Roman" charset="0"/>
              </a:rPr>
              <a:t>Multiprocessor Systems</a:t>
            </a:r>
            <a:r>
              <a:rPr lang="en-AU" sz="2800" b="1" noProof="1">
                <a:solidFill>
                  <a:srgbClr val="007000"/>
                </a:solidFill>
                <a:latin typeface="Times New Roman" charset="0"/>
              </a:rPr>
              <a:t> (cont. )</a:t>
            </a:r>
            <a:endParaRPr lang="en-AU" sz="2800" b="1" dirty="0">
              <a:solidFill>
                <a:srgbClr val="007000"/>
              </a:solidFill>
              <a:latin typeface="Times New Roman" charset="0"/>
            </a:endParaRPr>
          </a:p>
        </p:txBody>
      </p:sp>
      <p:sp>
        <p:nvSpPr>
          <p:cNvPr id="3860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775520" y="836712"/>
            <a:ext cx="8610600" cy="2971800"/>
          </a:xfrm>
        </p:spPr>
        <p:txBody>
          <a:bodyPr>
            <a:normAutofit lnSpcReduction="10000"/>
          </a:bodyPr>
          <a:lstStyle/>
          <a:p>
            <a:pPr>
              <a:spcBef>
                <a:spcPts val="0"/>
              </a:spcBef>
              <a:spcAft>
                <a:spcPts val="600"/>
              </a:spcAft>
              <a:defRPr/>
            </a:pPr>
            <a:r>
              <a:rPr lang="en-AU" sz="2400" noProof="1">
                <a:solidFill>
                  <a:srgbClr val="0000FF"/>
                </a:solidFill>
                <a:latin typeface="Times New Roman" charset="0"/>
              </a:rPr>
              <a:t>SMP – not the master-slave model; a more common system</a:t>
            </a:r>
          </a:p>
          <a:p>
            <a:pPr lvl="1">
              <a:spcBef>
                <a:spcPts val="0"/>
              </a:spcBef>
              <a:spcAft>
                <a:spcPts val="600"/>
              </a:spcAft>
              <a:buSzPct val="100000"/>
              <a:buFont typeface="Lucida Grande"/>
              <a:buChar char="-"/>
              <a:defRPr/>
            </a:pPr>
            <a:r>
              <a:rPr lang="en-AU" sz="2000" noProof="1">
                <a:solidFill>
                  <a:srgbClr val="0000FF"/>
                </a:solidFill>
                <a:latin typeface="Times New Roman" charset="0"/>
              </a:rPr>
              <a:t>Each processor runs an identical copy of the OS.</a:t>
            </a:r>
            <a:endParaRPr lang="en-AU" sz="2000" b="1" u="sng" noProof="1">
              <a:solidFill>
                <a:srgbClr val="0000FF"/>
              </a:solidFill>
              <a:latin typeface="Times New Roman" charset="0"/>
            </a:endParaRPr>
          </a:p>
          <a:p>
            <a:pPr lvl="1">
              <a:spcBef>
                <a:spcPts val="0"/>
              </a:spcBef>
              <a:spcAft>
                <a:spcPts val="600"/>
              </a:spcAft>
              <a:buSzPct val="100000"/>
              <a:buFont typeface="Lucida Grande"/>
              <a:buChar char="-"/>
              <a:defRPr/>
            </a:pPr>
            <a:r>
              <a:rPr lang="en-AU" sz="2000" noProof="1">
                <a:solidFill>
                  <a:srgbClr val="0000FF"/>
                </a:solidFill>
                <a:latin typeface="Times New Roman" charset="0"/>
              </a:rPr>
              <a:t>Each processor has its own registers and cache</a:t>
            </a:r>
          </a:p>
          <a:p>
            <a:pPr marL="982663" lvl="2" indent="-263525">
              <a:spcBef>
                <a:spcPts val="0"/>
              </a:spcBef>
              <a:spcAft>
                <a:spcPts val="600"/>
              </a:spcAft>
              <a:buSzPct val="45000"/>
              <a:buFont typeface="Wingdings" charset="0"/>
              <a:buChar char="v"/>
              <a:defRPr/>
            </a:pPr>
            <a:r>
              <a:rPr lang="en-AU" sz="1600" noProof="1">
                <a:solidFill>
                  <a:srgbClr val="0000FF"/>
                </a:solidFill>
                <a:latin typeface="Times New Roman" charset="0"/>
              </a:rPr>
              <a:t>However, they share the same memory</a:t>
            </a:r>
          </a:p>
          <a:p>
            <a:pPr lvl="1">
              <a:spcBef>
                <a:spcPts val="0"/>
              </a:spcBef>
              <a:spcAft>
                <a:spcPts val="600"/>
              </a:spcAft>
              <a:buSzPct val="100000"/>
              <a:buFont typeface="Lucida Grande"/>
              <a:buChar char="-"/>
              <a:defRPr/>
            </a:pPr>
            <a:r>
              <a:rPr lang="en-AU" sz="2000" noProof="1">
                <a:solidFill>
                  <a:srgbClr val="0000FF"/>
                </a:solidFill>
                <a:latin typeface="Times New Roman" charset="0"/>
              </a:rPr>
              <a:t>Many processes can run at once without significant performance deterioration</a:t>
            </a:r>
          </a:p>
          <a:p>
            <a:pPr marL="982663" lvl="2" indent="-263525">
              <a:spcBef>
                <a:spcPts val="0"/>
              </a:spcBef>
              <a:spcAft>
                <a:spcPts val="600"/>
              </a:spcAft>
              <a:buSzPct val="45000"/>
              <a:buFont typeface="Wingdings" charset="0"/>
              <a:buChar char="v"/>
              <a:defRPr/>
            </a:pPr>
            <a:r>
              <a:rPr lang="en-AU" sz="1600" noProof="1">
                <a:solidFill>
                  <a:srgbClr val="0000FF"/>
                </a:solidFill>
                <a:latin typeface="Times New Roman" charset="0"/>
              </a:rPr>
              <a:t>Need load balancing to improve performance</a:t>
            </a:r>
          </a:p>
          <a:p>
            <a:pPr>
              <a:spcBef>
                <a:spcPts val="0"/>
              </a:spcBef>
              <a:spcAft>
                <a:spcPts val="600"/>
              </a:spcAft>
              <a:defRPr/>
            </a:pPr>
            <a:r>
              <a:rPr lang="en-AU" sz="2400" noProof="1">
                <a:solidFill>
                  <a:srgbClr val="0000FF"/>
                </a:solidFill>
                <a:latin typeface="Times New Roman" charset="0"/>
              </a:rPr>
              <a:t>Symmtric and Asymmetric may be the result of either hardware or software.</a:t>
            </a:r>
            <a:endParaRPr lang="en-AU" sz="2400" b="1" u="sng" dirty="0">
              <a:solidFill>
                <a:srgbClr val="0000FF"/>
              </a:solidFill>
              <a:latin typeface="Times New Roman" charset="0"/>
            </a:endParaRPr>
          </a:p>
          <a:p>
            <a:pPr lvl="1">
              <a:spcBef>
                <a:spcPts val="0"/>
              </a:spcBef>
              <a:spcAft>
                <a:spcPts val="600"/>
              </a:spcAft>
              <a:defRPr/>
            </a:pPr>
            <a:endParaRPr sz="2000" noProof="1">
              <a:latin typeface="Times New Roman" charset="0"/>
            </a:endParaRPr>
          </a:p>
          <a:p>
            <a:pPr lvl="1">
              <a:spcBef>
                <a:spcPts val="0"/>
              </a:spcBef>
              <a:spcAft>
                <a:spcPts val="600"/>
              </a:spcAft>
              <a:buSzPct val="45000"/>
              <a:buFont typeface="Wingdings" charset="0"/>
              <a:buChar char="v"/>
              <a:defRPr/>
            </a:pPr>
            <a:endParaRPr lang="en-AU" sz="2000" dirty="0">
              <a:latin typeface="Times New Roman" charset="0"/>
            </a:endParaRPr>
          </a:p>
        </p:txBody>
      </p:sp>
      <p:pic>
        <p:nvPicPr>
          <p:cNvPr id="2" name="Picture 1" descr="1_06.pdf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51785" y="4509120"/>
            <a:ext cx="4054217" cy="1944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11276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19580BE-E7E4-0946-92DC-CEA7D48CD3F3}" type="slidenum">
              <a:rPr lang="en-AU"/>
              <a:pPr>
                <a:defRPr/>
              </a:pPr>
              <a:t>9</a:t>
            </a:fld>
            <a:endParaRPr lang="en-AU"/>
          </a:p>
        </p:txBody>
      </p:sp>
      <p:sp>
        <p:nvSpPr>
          <p:cNvPr id="386050" name="Rectangle 2"/>
          <p:cNvSpPr>
            <a:spLocks noGrp="1" noChangeArrowheads="1"/>
          </p:cNvSpPr>
          <p:nvPr>
            <p:ph type="title"/>
          </p:nvPr>
        </p:nvSpPr>
        <p:spPr>
          <a:xfrm>
            <a:off x="1752600" y="152401"/>
            <a:ext cx="8610600" cy="519113"/>
          </a:xfrm>
          <a:extLst>
            <a:ext uri="{91240B29-F687-4f45-9708-019B960494DF}">
              <a14:hiddenLine xmlns:a14="http://schemas.microsoft.com/office/drawing/2010/main" xmlns="" w="9525" cap="flat" cmpd="sng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defRPr/>
            </a:pPr>
            <a:r>
              <a:rPr sz="2800" b="1" noProof="1">
                <a:solidFill>
                  <a:srgbClr val="007000"/>
                </a:solidFill>
                <a:latin typeface="Times New Roman" charset="0"/>
              </a:rPr>
              <a:t>Multiprocessor Systems</a:t>
            </a:r>
            <a:r>
              <a:rPr lang="en-AU" sz="2800" b="1" noProof="1">
                <a:solidFill>
                  <a:srgbClr val="007000"/>
                </a:solidFill>
                <a:latin typeface="Times New Roman" charset="0"/>
              </a:rPr>
              <a:t> (cont. )</a:t>
            </a:r>
            <a:endParaRPr lang="en-AU" sz="2800" b="1" dirty="0">
              <a:solidFill>
                <a:srgbClr val="007000"/>
              </a:solidFill>
              <a:latin typeface="Times New Roman" charset="0"/>
            </a:endParaRPr>
          </a:p>
        </p:txBody>
      </p:sp>
      <p:sp>
        <p:nvSpPr>
          <p:cNvPr id="3860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775520" y="2996952"/>
            <a:ext cx="8610600" cy="3528392"/>
          </a:xfrm>
        </p:spPr>
        <p:txBody>
          <a:bodyPr/>
          <a:lstStyle/>
          <a:p>
            <a:pPr eaLnBrk="1" hangingPunct="1">
              <a:lnSpc>
                <a:spcPct val="90000"/>
              </a:lnSpc>
              <a:defRPr/>
            </a:pPr>
            <a:r>
              <a:rPr lang="en-AU" sz="2400" noProof="1">
                <a:solidFill>
                  <a:srgbClr val="0000FF"/>
                </a:solidFill>
                <a:latin typeface="Times New Roman" charset="0"/>
              </a:rPr>
              <a:t>Multicore system is a multiprocessor system but the processors are on a single chip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AU" sz="2000" noProof="1">
                <a:solidFill>
                  <a:srgbClr val="0000FF"/>
                </a:solidFill>
                <a:latin typeface="Times New Roman" charset="0"/>
              </a:rPr>
              <a:t>More efficient because on-chip communication is faster than inter-chip communication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AU" sz="2000" noProof="1">
                <a:solidFill>
                  <a:srgbClr val="0000FF"/>
                </a:solidFill>
                <a:latin typeface="Times New Roman" charset="0"/>
              </a:rPr>
              <a:t>Less power/energy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AU" sz="2000" noProof="1">
                <a:solidFill>
                  <a:srgbClr val="0000FF"/>
                </a:solidFill>
                <a:latin typeface="Times New Roman" charset="0"/>
              </a:rPr>
              <a:t>Note: not all multiprocessors are multicores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en-AU" sz="2400" noProof="1">
                <a:solidFill>
                  <a:srgbClr val="0000FF"/>
                </a:solidFill>
                <a:latin typeface="Times New Roman" charset="0"/>
              </a:rPr>
              <a:t>Blade servers: multiple processor boards, I/O boards and networking boards are put in the same chassis.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AU" sz="2000" noProof="1">
                <a:solidFill>
                  <a:srgbClr val="0000FF"/>
                </a:solidFill>
                <a:latin typeface="Times New Roman" charset="0"/>
              </a:rPr>
              <a:t>Each processor board boots independently and runs its own OS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AU" sz="2000" noProof="1">
                <a:solidFill>
                  <a:srgbClr val="0000FF"/>
                </a:solidFill>
                <a:latin typeface="Times New Roman" charset="0"/>
              </a:rPr>
              <a:t>Each processor board can be multiprocessors</a:t>
            </a:r>
            <a:endParaRPr sz="2000" noProof="1">
              <a:latin typeface="Times New Roman" charset="0"/>
            </a:endParaRPr>
          </a:p>
          <a:p>
            <a:pPr lvl="1" eaLnBrk="1" hangingPunct="1">
              <a:lnSpc>
                <a:spcPct val="90000"/>
              </a:lnSpc>
              <a:buSzPct val="45000"/>
              <a:buFont typeface="Wingdings" charset="0"/>
              <a:buChar char="v"/>
              <a:defRPr/>
            </a:pPr>
            <a:endParaRPr lang="en-AU" sz="2000" dirty="0">
              <a:latin typeface="Times New Roman" charset="0"/>
            </a:endParaRPr>
          </a:p>
        </p:txBody>
      </p:sp>
      <p:pic>
        <p:nvPicPr>
          <p:cNvPr id="3" name="Picture 2" descr="1_07.pdf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51784" y="764705"/>
            <a:ext cx="2952328" cy="21699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55305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0F95D58-83A9-8D4F-94BF-799F5DC81B62}" type="slidenum">
              <a:rPr lang="en-AU"/>
              <a:pPr>
                <a:defRPr/>
              </a:pPr>
              <a:t>10</a:t>
            </a:fld>
            <a:endParaRPr lang="en-AU"/>
          </a:p>
        </p:txBody>
      </p:sp>
      <p:sp>
        <p:nvSpPr>
          <p:cNvPr id="390146" name="Rectangle 2"/>
          <p:cNvSpPr>
            <a:spLocks noGrp="1" noChangeArrowheads="1"/>
          </p:cNvSpPr>
          <p:nvPr>
            <p:ph type="title"/>
          </p:nvPr>
        </p:nvSpPr>
        <p:spPr>
          <a:xfrm>
            <a:off x="1752600" y="152401"/>
            <a:ext cx="8610600" cy="519113"/>
          </a:xfrm>
          <a:extLst>
            <a:ext uri="{91240B29-F687-4f45-9708-019B960494DF}">
              <a14:hiddenLine xmlns:a14="http://schemas.microsoft.com/office/drawing/2010/main" xmlns="" w="9525" cap="flat" cmpd="sng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defRPr/>
            </a:pPr>
            <a:r>
              <a:rPr lang="en-AU" sz="2800" b="1" noProof="1">
                <a:solidFill>
                  <a:srgbClr val="007000"/>
                </a:solidFill>
                <a:latin typeface="Times New Roman" charset="0"/>
              </a:rPr>
              <a:t>Clustered Systems</a:t>
            </a:r>
            <a:endParaRPr lang="en-AU" sz="2800" b="1" dirty="0">
              <a:solidFill>
                <a:srgbClr val="007000"/>
              </a:solidFill>
              <a:latin typeface="Times New Roman" charset="0"/>
            </a:endParaRPr>
          </a:p>
        </p:txBody>
      </p:sp>
      <p:sp>
        <p:nvSpPr>
          <p:cNvPr id="3901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703512" y="692696"/>
            <a:ext cx="8754616" cy="3352800"/>
          </a:xfrm>
        </p:spPr>
        <p:txBody>
          <a:bodyPr>
            <a:normAutofit lnSpcReduction="10000"/>
          </a:bodyPr>
          <a:lstStyle/>
          <a:p>
            <a:pPr eaLnBrk="1" hangingPunct="1">
              <a:lnSpc>
                <a:spcPct val="90000"/>
              </a:lnSpc>
              <a:defRPr/>
            </a:pPr>
            <a:r>
              <a:rPr lang="en-AU" sz="2400" noProof="1">
                <a:solidFill>
                  <a:srgbClr val="0000FF"/>
                </a:solidFill>
                <a:latin typeface="Times New Roman" charset="0"/>
              </a:rPr>
              <a:t>A clustered system consists of multiple CPUs, like multiprocessors</a:t>
            </a:r>
          </a:p>
          <a:p>
            <a:pPr marL="627063" lvl="1" indent="-271463">
              <a:defRPr/>
            </a:pPr>
            <a:r>
              <a:rPr lang="en-AU" sz="2000" noProof="1">
                <a:solidFill>
                  <a:srgbClr val="0000FF"/>
                </a:solidFill>
                <a:latin typeface="Times New Roman" charset="0"/>
              </a:rPr>
              <a:t>However they are individual systems or nodes</a:t>
            </a:r>
          </a:p>
          <a:p>
            <a:pPr marL="627063" lvl="1" indent="-271463">
              <a:defRPr/>
            </a:pPr>
            <a:r>
              <a:rPr lang="en-AU" sz="2000" noProof="1">
                <a:solidFill>
                  <a:srgbClr val="0000FF"/>
                </a:solidFill>
                <a:latin typeface="Times New Roman" charset="0"/>
              </a:rPr>
              <a:t>Each node can be a single processor or a multicore</a:t>
            </a:r>
          </a:p>
          <a:p>
            <a:pPr marL="627063" lvl="1" indent="-271463">
              <a:defRPr/>
            </a:pPr>
            <a:r>
              <a:rPr lang="en-AU" sz="2000" noProof="1">
                <a:solidFill>
                  <a:srgbClr val="0000FF"/>
                </a:solidFill>
                <a:latin typeface="Times New Roman" charset="0"/>
              </a:rPr>
              <a:t>They share storage and communicate via LAN</a:t>
            </a:r>
          </a:p>
          <a:p>
            <a:pPr marL="627063" lvl="1" indent="-271463">
              <a:defRPr/>
            </a:pPr>
            <a:r>
              <a:rPr lang="en-AU" sz="2000" noProof="1">
                <a:solidFill>
                  <a:srgbClr val="0000FF"/>
                </a:solidFill>
                <a:latin typeface="Times New Roman" charset="0"/>
              </a:rPr>
              <a:t>It offers high-availability service</a:t>
            </a:r>
          </a:p>
          <a:p>
            <a:pPr marL="227013" indent="-271463">
              <a:defRPr/>
            </a:pPr>
            <a:r>
              <a:rPr lang="en-AU" sz="2400" noProof="1">
                <a:solidFill>
                  <a:srgbClr val="0000FF"/>
                </a:solidFill>
                <a:latin typeface="Times New Roman" charset="0"/>
              </a:rPr>
              <a:t>Beowulf cluster consists of on-the-self hardware, e.g., personal computers, interlinked by LAN</a:t>
            </a:r>
          </a:p>
          <a:p>
            <a:pPr marL="627063" lvl="1" indent="-271463">
              <a:defRPr/>
            </a:pPr>
            <a:r>
              <a:rPr lang="en-AU" sz="2000" noProof="1">
                <a:solidFill>
                  <a:srgbClr val="0000FF"/>
                </a:solidFill>
                <a:latin typeface="Times New Roman" charset="0"/>
              </a:rPr>
              <a:t>Use open-source software for communication</a:t>
            </a:r>
          </a:p>
          <a:p>
            <a:pPr marL="627063" lvl="1" indent="-271463">
              <a:defRPr/>
            </a:pPr>
            <a:r>
              <a:rPr lang="en-AU" sz="2000" noProof="1">
                <a:solidFill>
                  <a:srgbClr val="0000FF"/>
                </a:solidFill>
                <a:latin typeface="Times New Roman" charset="0"/>
              </a:rPr>
              <a:t>Typically runs LINUX</a:t>
            </a:r>
          </a:p>
          <a:p>
            <a:pPr marL="627063" lvl="1" indent="-271463">
              <a:defRPr/>
            </a:pPr>
            <a:r>
              <a:rPr lang="en-AU" sz="2000" noProof="1">
                <a:solidFill>
                  <a:srgbClr val="0000FF"/>
                </a:solidFill>
                <a:latin typeface="Times New Roman" charset="0"/>
              </a:rPr>
              <a:t>Low cost for high performance computing tasks</a:t>
            </a:r>
          </a:p>
          <a:p>
            <a:pPr marL="1027113" lvl="2" indent="-271463">
              <a:defRPr/>
            </a:pPr>
            <a:endParaRPr lang="en-AU" sz="1200" noProof="1">
              <a:solidFill>
                <a:srgbClr val="0000FF"/>
              </a:solidFill>
              <a:latin typeface="Times New Roman" charset="0"/>
            </a:endParaRPr>
          </a:p>
        </p:txBody>
      </p:sp>
      <p:sp>
        <p:nvSpPr>
          <p:cNvPr id="390148" name="Rectangle 4"/>
          <p:cNvSpPr>
            <a:spLocks noChangeArrowheads="1"/>
          </p:cNvSpPr>
          <p:nvPr/>
        </p:nvSpPr>
        <p:spPr bwMode="auto">
          <a:xfrm>
            <a:off x="4648201" y="1447800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endParaRPr lang="en-US"/>
          </a:p>
        </p:txBody>
      </p:sp>
      <p:pic>
        <p:nvPicPr>
          <p:cNvPr id="2" name="Picture 1" descr="1_08.pdf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07768" y="4653136"/>
            <a:ext cx="3873500" cy="198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56556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580EF5A-A32C-1046-B182-A7D1B9A1C332}" type="slidenum">
              <a:rPr lang="en-AU"/>
              <a:pPr>
                <a:defRPr/>
              </a:pPr>
              <a:t>11</a:t>
            </a:fld>
            <a:endParaRPr lang="en-AU"/>
          </a:p>
        </p:txBody>
      </p:sp>
      <p:sp>
        <p:nvSpPr>
          <p:cNvPr id="53250" name="Rectangle 2"/>
          <p:cNvSpPr>
            <a:spLocks noGrp="1" noChangeArrowheads="1"/>
          </p:cNvSpPr>
          <p:nvPr>
            <p:ph type="title"/>
          </p:nvPr>
        </p:nvSpPr>
        <p:spPr>
          <a:xfrm>
            <a:off x="1752600" y="152401"/>
            <a:ext cx="8610600" cy="519113"/>
          </a:xfrm>
          <a:extLst>
            <a:ext uri="{91240B29-F687-4f45-9708-019B960494DF}">
              <a14:hiddenLine xmlns:a14="http://schemas.microsoft.com/office/drawing/2010/main" xmlns="" w="9525" cap="flat" cmpd="sng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defRPr/>
            </a:pPr>
            <a:r>
              <a:rPr sz="2800" b="1" noProof="1">
                <a:solidFill>
                  <a:srgbClr val="007000"/>
                </a:solidFill>
                <a:latin typeface="Times New Roman" charset="0"/>
              </a:rPr>
              <a:t>Multiprogramming</a:t>
            </a:r>
            <a:endParaRPr lang="en-AU" sz="2800" b="1">
              <a:solidFill>
                <a:srgbClr val="007000"/>
              </a:solidFill>
              <a:latin typeface="Times New Roman" charset="0"/>
            </a:endParaRPr>
          </a:p>
        </p:txBody>
      </p:sp>
      <p:sp>
        <p:nvSpPr>
          <p:cNvPr id="532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703512" y="914400"/>
            <a:ext cx="5832648" cy="4572000"/>
          </a:xfrm>
        </p:spPr>
        <p:txBody>
          <a:bodyPr/>
          <a:lstStyle/>
          <a:p>
            <a:pPr eaLnBrk="1" hangingPunct="1">
              <a:defRPr/>
            </a:pPr>
            <a:r>
              <a:rPr sz="2000" noProof="1">
                <a:solidFill>
                  <a:srgbClr val="0000FF"/>
                </a:solidFill>
                <a:latin typeface="Times New Roman" charset="0"/>
              </a:rPr>
              <a:t>Goal: to increase the CPU utilization</a:t>
            </a:r>
          </a:p>
          <a:p>
            <a:pPr eaLnBrk="1" hangingPunct="1">
              <a:defRPr/>
            </a:pPr>
            <a:r>
              <a:rPr sz="2000" noProof="1">
                <a:solidFill>
                  <a:srgbClr val="0000FF"/>
                </a:solidFill>
                <a:latin typeface="Times New Roman" charset="0"/>
              </a:rPr>
              <a:t>Several jobs are kept in main memory at the same time, and the CPU is multiplexed among them</a:t>
            </a:r>
            <a:endParaRPr lang="en-AU" sz="2000" dirty="0">
              <a:solidFill>
                <a:srgbClr val="0000FF"/>
              </a:solidFill>
              <a:latin typeface="Times New Roman" charset="0"/>
            </a:endParaRPr>
          </a:p>
          <a:p>
            <a:pPr eaLnBrk="1" hangingPunct="1">
              <a:defRPr/>
            </a:pPr>
            <a:r>
              <a:rPr sz="2000" noProof="1">
                <a:solidFill>
                  <a:srgbClr val="0000FF"/>
                </a:solidFill>
                <a:latin typeface="Times New Roman" charset="0"/>
              </a:rPr>
              <a:t>It needs these OS features:</a:t>
            </a:r>
          </a:p>
          <a:p>
            <a:pPr lvl="1" eaLnBrk="1" hangingPunct="1">
              <a:buSzPct val="45000"/>
              <a:buFont typeface="Wingdings" charset="0"/>
              <a:buChar char="v"/>
              <a:defRPr/>
            </a:pPr>
            <a:r>
              <a:rPr sz="2000" noProof="1">
                <a:solidFill>
                  <a:srgbClr val="0000FF"/>
                </a:solidFill>
                <a:latin typeface="Times New Roman" charset="0"/>
              </a:rPr>
              <a:t>Job scheduling </a:t>
            </a:r>
            <a:r>
              <a:rPr sz="2000" noProof="1">
                <a:solidFill>
                  <a:srgbClr val="0000FF"/>
                </a:solidFill>
                <a:latin typeface="Times New Roman" charset="0"/>
                <a:sym typeface="Wingdings" charset="0"/>
              </a:rPr>
              <a:t></a:t>
            </a:r>
            <a:r>
              <a:rPr sz="2000" noProof="1">
                <a:solidFill>
                  <a:srgbClr val="0000FF"/>
                </a:solidFill>
                <a:latin typeface="Times New Roman" charset="0"/>
              </a:rPr>
              <a:t> OS chooses jobs in the job pool and put them into memory.</a:t>
            </a:r>
          </a:p>
          <a:p>
            <a:pPr lvl="1" eaLnBrk="1" hangingPunct="1">
              <a:buSzPct val="45000"/>
              <a:buFont typeface="Wingdings" charset="0"/>
              <a:buChar char="v"/>
              <a:defRPr/>
            </a:pPr>
            <a:r>
              <a:rPr sz="2000" noProof="1">
                <a:solidFill>
                  <a:srgbClr val="0000FF"/>
                </a:solidFill>
                <a:latin typeface="Times New Roman" charset="0"/>
              </a:rPr>
              <a:t>Memory management </a:t>
            </a:r>
            <a:r>
              <a:rPr sz="2000" noProof="1">
                <a:solidFill>
                  <a:srgbClr val="0000FF"/>
                </a:solidFill>
                <a:latin typeface="Times New Roman" charset="0"/>
                <a:sym typeface="Wingdings" charset="0"/>
              </a:rPr>
              <a:t></a:t>
            </a:r>
            <a:r>
              <a:rPr sz="2000" noProof="1">
                <a:solidFill>
                  <a:srgbClr val="0000FF"/>
                </a:solidFill>
                <a:latin typeface="Times New Roman" charset="0"/>
              </a:rPr>
              <a:t> OS allocates the memory for each job.</a:t>
            </a:r>
          </a:p>
          <a:p>
            <a:pPr lvl="1" eaLnBrk="1" hangingPunct="1">
              <a:buSzPct val="45000"/>
              <a:buFont typeface="Wingdings" charset="0"/>
              <a:buChar char="v"/>
              <a:defRPr/>
            </a:pPr>
            <a:r>
              <a:rPr sz="2000" noProof="1">
                <a:solidFill>
                  <a:srgbClr val="0000FF"/>
                </a:solidFill>
                <a:latin typeface="Times New Roman" charset="0"/>
              </a:rPr>
              <a:t>CPU scheduling </a:t>
            </a:r>
            <a:r>
              <a:rPr sz="2000" noProof="1">
                <a:solidFill>
                  <a:srgbClr val="0000FF"/>
                </a:solidFill>
                <a:latin typeface="Times New Roman" charset="0"/>
                <a:sym typeface="Wingdings" charset="0"/>
              </a:rPr>
              <a:t></a:t>
            </a:r>
            <a:r>
              <a:rPr sz="2000" noProof="1">
                <a:solidFill>
                  <a:srgbClr val="0000FF"/>
                </a:solidFill>
                <a:latin typeface="Times New Roman" charset="0"/>
              </a:rPr>
              <a:t> OS chooses one among the jobs in memory (called processes) that is ready to run.</a:t>
            </a:r>
          </a:p>
          <a:p>
            <a:pPr lvl="1" eaLnBrk="1" hangingPunct="1">
              <a:buSzPct val="45000"/>
              <a:buFont typeface="Wingdings" charset="0"/>
              <a:buChar char="v"/>
              <a:defRPr/>
            </a:pPr>
            <a:r>
              <a:rPr sz="2000" noProof="1">
                <a:solidFill>
                  <a:srgbClr val="0000FF"/>
                </a:solidFill>
                <a:latin typeface="Times New Roman" charset="0"/>
              </a:rPr>
              <a:t>I/O allocation.</a:t>
            </a:r>
          </a:p>
        </p:txBody>
      </p:sp>
      <p:graphicFrame>
        <p:nvGraphicFramePr>
          <p:cNvPr id="53274" name="Group 26"/>
          <p:cNvGraphicFramePr>
            <a:graphicFrameLocks noGrp="1"/>
          </p:cNvGraphicFramePr>
          <p:nvPr/>
        </p:nvGraphicFramePr>
        <p:xfrm>
          <a:off x="8153400" y="2362200"/>
          <a:ext cx="1066800" cy="2519382"/>
        </p:xfrm>
        <a:graphic>
          <a:graphicData uri="http://schemas.openxmlformats.org/drawingml/2006/table">
            <a:tbl>
              <a:tblPr/>
              <a:tblGrid>
                <a:gridCol w="106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69488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charset="0"/>
                        <a:buNone/>
                        <a:tabLst/>
                      </a:pPr>
                      <a:r>
                        <a:rPr kumimoji="0" sz="1800" b="0" i="0" u="none" strike="noStrike" cap="none" normalizeH="0" baseline="0" noProof="1">
                          <a:ln>
                            <a:noFill/>
                          </a:ln>
                          <a:solidFill>
                            <a:srgbClr val="900814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OS 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charset="0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900814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marT="45692" marB="4569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488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charset="0"/>
                        <a:buNone/>
                        <a:tabLst/>
                      </a:pPr>
                      <a:r>
                        <a:rPr kumimoji="0" sz="1800" b="0" i="0" u="none" strike="noStrike" cap="none" normalizeH="0" baseline="0" noProof="1">
                          <a:ln>
                            <a:noFill/>
                          </a:ln>
                          <a:solidFill>
                            <a:srgbClr val="900814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   Job 1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charset="0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900814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marT="45692" marB="4569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488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charset="0"/>
                        <a:buNone/>
                        <a:tabLst/>
                      </a:pPr>
                      <a:r>
                        <a:rPr kumimoji="0" sz="1800" b="0" i="0" u="none" strike="noStrike" cap="none" normalizeH="0" baseline="0" noProof="1">
                          <a:ln>
                            <a:noFill/>
                          </a:ln>
                          <a:solidFill>
                            <a:srgbClr val="900814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  Job 2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charset="0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900814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marT="45692" marB="4569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471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charset="0"/>
                        <a:buNone/>
                        <a:tabLst/>
                      </a:pPr>
                      <a:r>
                        <a:rPr kumimoji="0" sz="1800" b="0" i="0" u="none" strike="noStrike" cap="none" normalizeH="0" baseline="0" noProof="1">
                          <a:ln>
                            <a:noFill/>
                          </a:ln>
                          <a:solidFill>
                            <a:srgbClr val="900814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  Job 3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900814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marT="45692" marB="4569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3264" name="Rectangle 16"/>
          <p:cNvSpPr>
            <a:spLocks noChangeArrowheads="1"/>
          </p:cNvSpPr>
          <p:nvPr/>
        </p:nvSpPr>
        <p:spPr bwMode="auto">
          <a:xfrm>
            <a:off x="7543800" y="1676400"/>
            <a:ext cx="2800672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chemeClr val="bg2"/>
              </a:buClr>
              <a:buSzPct val="65000"/>
              <a:defRPr/>
            </a:pPr>
            <a:r>
              <a:rPr lang="en-AU" b="1" dirty="0">
                <a:solidFill>
                  <a:srgbClr val="900814"/>
                </a:solidFill>
              </a:rPr>
              <a:t>Memory partition</a:t>
            </a:r>
            <a:r>
              <a:rPr lang="en-AU" sz="3200" b="1" dirty="0">
                <a:solidFill>
                  <a:srgbClr val="900814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4309293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532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" dur="500"/>
                                        <p:tgtEl>
                                          <p:spTgt spid="532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3" dur="500"/>
                                        <p:tgtEl>
                                          <p:spTgt spid="532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6" dur="500"/>
                                        <p:tgtEl>
                                          <p:spTgt spid="532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9" dur="500"/>
                                        <p:tgtEl>
                                          <p:spTgt spid="5325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844D670-2282-4A4E-982B-5A3063E11A6D}" type="slidenum">
              <a:rPr lang="en-AU"/>
              <a:pPr>
                <a:defRPr/>
              </a:pPr>
              <a:t>12</a:t>
            </a:fld>
            <a:endParaRPr lang="en-AU"/>
          </a:p>
        </p:txBody>
      </p:sp>
      <p:sp>
        <p:nvSpPr>
          <p:cNvPr id="98306" name="Rectangle 2"/>
          <p:cNvSpPr>
            <a:spLocks noGrp="1" noChangeArrowheads="1"/>
          </p:cNvSpPr>
          <p:nvPr>
            <p:ph type="title"/>
          </p:nvPr>
        </p:nvSpPr>
        <p:spPr>
          <a:xfrm>
            <a:off x="1676400" y="152401"/>
            <a:ext cx="8610600" cy="519113"/>
          </a:xfrm>
          <a:extLst>
            <a:ext uri="{91240B29-F687-4f45-9708-019B960494DF}">
              <a14:hiddenLine xmlns:a14="http://schemas.microsoft.com/office/drawing/2010/main" xmlns="" w="9525" cap="flat" cmpd="sng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defRPr/>
            </a:pPr>
            <a:r>
              <a:rPr sz="2800" b="1" noProof="1">
                <a:solidFill>
                  <a:srgbClr val="007000"/>
                </a:solidFill>
                <a:latin typeface="Times New Roman" charset="0"/>
              </a:rPr>
              <a:t>Time-Sharing/Multitasking Systems </a:t>
            </a:r>
            <a:endParaRPr lang="en-AU" sz="2800" b="1">
              <a:solidFill>
                <a:srgbClr val="007000"/>
              </a:solidFill>
              <a:latin typeface="Times New Roman" charset="0"/>
            </a:endParaRPr>
          </a:p>
        </p:txBody>
      </p:sp>
      <p:sp>
        <p:nvSpPr>
          <p:cNvPr id="983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775520" y="764704"/>
            <a:ext cx="8640960" cy="5334000"/>
          </a:xfrm>
        </p:spPr>
        <p:txBody>
          <a:bodyPr/>
          <a:lstStyle/>
          <a:p>
            <a:pPr>
              <a:spcBef>
                <a:spcPts val="0"/>
              </a:spcBef>
              <a:spcAft>
                <a:spcPts val="600"/>
              </a:spcAft>
              <a:defRPr/>
            </a:pPr>
            <a:r>
              <a:rPr sz="2400" b="1" noProof="1">
                <a:solidFill>
                  <a:srgbClr val="0000FF"/>
                </a:solidFill>
                <a:latin typeface="Times New Roman" charset="0"/>
              </a:rPr>
              <a:t>Goal:</a:t>
            </a:r>
            <a:r>
              <a:rPr sz="2400" noProof="1">
                <a:solidFill>
                  <a:srgbClr val="0000FF"/>
                </a:solidFill>
                <a:latin typeface="Times New Roman" charset="0"/>
              </a:rPr>
              <a:t> to provide interactive use of computer system at reasonable cost (one computer – several users/jobs).</a:t>
            </a:r>
          </a:p>
          <a:p>
            <a:pPr>
              <a:spcBef>
                <a:spcPts val="0"/>
              </a:spcBef>
              <a:spcAft>
                <a:spcPts val="600"/>
              </a:spcAft>
              <a:defRPr/>
            </a:pPr>
            <a:r>
              <a:rPr sz="2400" noProof="1">
                <a:solidFill>
                  <a:srgbClr val="0000FF"/>
                </a:solidFill>
                <a:latin typeface="Times New Roman" charset="0"/>
              </a:rPr>
              <a:t>It is a variant of multiprogramming </a:t>
            </a:r>
            <a:r>
              <a:rPr sz="2400" noProof="1">
                <a:solidFill>
                  <a:srgbClr val="0000FF"/>
                </a:solidFill>
                <a:latin typeface="Times New Roman" charset="0"/>
                <a:sym typeface="Wingdings" charset="0"/>
              </a:rPr>
              <a:t></a:t>
            </a:r>
            <a:r>
              <a:rPr sz="2400" noProof="1">
                <a:solidFill>
                  <a:srgbClr val="0000FF"/>
                </a:solidFill>
                <a:latin typeface="Times New Roman" charset="0"/>
              </a:rPr>
              <a:t> but user input is from on-line terminal.</a:t>
            </a:r>
          </a:p>
          <a:p>
            <a:pPr>
              <a:spcBef>
                <a:spcPts val="0"/>
              </a:spcBef>
              <a:spcAft>
                <a:spcPts val="600"/>
              </a:spcAft>
              <a:defRPr/>
            </a:pPr>
            <a:r>
              <a:rPr sz="2400" noProof="1">
                <a:solidFill>
                  <a:srgbClr val="0000FF"/>
                </a:solidFill>
                <a:latin typeface="Times New Roman" charset="0"/>
              </a:rPr>
              <a:t>CPU is multiplexed among jobs in memory frequently (</a:t>
            </a:r>
            <a:r>
              <a:rPr sz="2400" noProof="1">
                <a:solidFill>
                  <a:srgbClr val="0000FF"/>
                </a:solidFill>
                <a:latin typeface="Times New Roman" charset="0"/>
                <a:sym typeface="Symbol" charset="0"/>
              </a:rPr>
              <a:t>1 sec?) so </a:t>
            </a:r>
            <a:r>
              <a:rPr sz="2400" noProof="1">
                <a:solidFill>
                  <a:srgbClr val="0000FF"/>
                </a:solidFill>
                <a:latin typeface="Times New Roman" charset="0"/>
              </a:rPr>
              <a:t>that users can interact with their running program.</a:t>
            </a:r>
          </a:p>
          <a:p>
            <a:pPr>
              <a:spcBef>
                <a:spcPts val="0"/>
              </a:spcBef>
              <a:spcAft>
                <a:spcPts val="600"/>
              </a:spcAft>
              <a:defRPr/>
            </a:pPr>
            <a:r>
              <a:rPr sz="2400" noProof="1">
                <a:solidFill>
                  <a:srgbClr val="0000FF"/>
                </a:solidFill>
                <a:latin typeface="Times New Roman" charset="0"/>
              </a:rPr>
              <a:t>It needs these OS features:</a:t>
            </a:r>
          </a:p>
          <a:p>
            <a:pPr lvl="1">
              <a:spcBef>
                <a:spcPts val="0"/>
              </a:spcBef>
              <a:spcAft>
                <a:spcPts val="600"/>
              </a:spcAft>
              <a:defRPr/>
            </a:pPr>
            <a:r>
              <a:rPr sz="2000" noProof="1">
                <a:solidFill>
                  <a:srgbClr val="0000FF"/>
                </a:solidFill>
                <a:latin typeface="Times New Roman" charset="0"/>
              </a:rPr>
              <a:t>On-line communication between users and system</a:t>
            </a:r>
          </a:p>
          <a:p>
            <a:pPr marL="1168400" lvl="2" indent="-363538">
              <a:spcBef>
                <a:spcPts val="0"/>
              </a:spcBef>
              <a:spcAft>
                <a:spcPts val="600"/>
              </a:spcAft>
              <a:defRPr/>
            </a:pPr>
            <a:r>
              <a:rPr sz="1800" noProof="1">
                <a:solidFill>
                  <a:srgbClr val="0000FF"/>
                </a:solidFill>
                <a:latin typeface="Times New Roman" charset="0"/>
              </a:rPr>
              <a:t>When OS finishes the execution of one command, it seeks the next </a:t>
            </a:r>
            <a:r>
              <a:rPr sz="1800" i="1" noProof="1">
                <a:solidFill>
                  <a:srgbClr val="0000FF"/>
                </a:solidFill>
                <a:latin typeface="Times New Roman" charset="0"/>
              </a:rPr>
              <a:t>control statement</a:t>
            </a:r>
            <a:r>
              <a:rPr sz="1800" noProof="1">
                <a:solidFill>
                  <a:srgbClr val="0000FF"/>
                </a:solidFill>
                <a:latin typeface="Times New Roman" charset="0"/>
              </a:rPr>
              <a:t> from the user’s keyboard.</a:t>
            </a:r>
          </a:p>
          <a:p>
            <a:pPr lvl="1">
              <a:spcBef>
                <a:spcPts val="0"/>
              </a:spcBef>
              <a:spcAft>
                <a:spcPts val="600"/>
              </a:spcAft>
              <a:defRPr/>
            </a:pPr>
            <a:r>
              <a:rPr sz="2000" noProof="1">
                <a:solidFill>
                  <a:srgbClr val="0000FF"/>
                </a:solidFill>
                <a:latin typeface="Times New Roman" charset="0"/>
              </a:rPr>
              <a:t>On-line file system, for users to access data and code.</a:t>
            </a:r>
          </a:p>
          <a:p>
            <a:pPr>
              <a:spcBef>
                <a:spcPts val="0"/>
              </a:spcBef>
              <a:spcAft>
                <a:spcPts val="600"/>
              </a:spcAft>
              <a:defRPr/>
            </a:pPr>
            <a:r>
              <a:rPr sz="2400" noProof="1">
                <a:solidFill>
                  <a:srgbClr val="0000FF"/>
                </a:solidFill>
                <a:latin typeface="Times New Roman" charset="0"/>
              </a:rPr>
              <a:t>Today, most systems provide both  batch processing and time sharing.</a:t>
            </a:r>
            <a:endParaRPr lang="en-AU" sz="2400" dirty="0">
              <a:solidFill>
                <a:srgbClr val="0000FF"/>
              </a:solidFill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025729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983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983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983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0" dur="500"/>
                                        <p:tgtEl>
                                          <p:spTgt spid="983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3" dur="500"/>
                                        <p:tgtEl>
                                          <p:spTgt spid="983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0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6" dur="500"/>
                                        <p:tgtEl>
                                          <p:spTgt spid="9830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0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1" dur="500"/>
                                        <p:tgtEl>
                                          <p:spTgt spid="9830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8307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190C31F-CC5E-B44B-88EE-B9E1D88B25C4}" type="slidenum">
              <a:rPr lang="en-AU"/>
              <a:pPr>
                <a:defRPr/>
              </a:pPr>
              <a:t>13</a:t>
            </a:fld>
            <a:endParaRPr lang="en-AU"/>
          </a:p>
        </p:txBody>
      </p:sp>
      <p:sp>
        <p:nvSpPr>
          <p:cNvPr id="396290" name="Rectangle 2"/>
          <p:cNvSpPr>
            <a:spLocks noGrp="1" noChangeArrowheads="1"/>
          </p:cNvSpPr>
          <p:nvPr>
            <p:ph type="title"/>
          </p:nvPr>
        </p:nvSpPr>
        <p:spPr>
          <a:xfrm>
            <a:off x="1752600" y="152401"/>
            <a:ext cx="8610600" cy="519113"/>
          </a:xfrm>
          <a:extLst>
            <a:ext uri="{91240B29-F687-4f45-9708-019B960494DF}">
              <a14:hiddenLine xmlns:a14="http://schemas.microsoft.com/office/drawing/2010/main" xmlns="" w="9525" cap="flat" cmpd="sng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defRPr/>
            </a:pPr>
            <a:r>
              <a:rPr sz="2800" b="1" noProof="1">
                <a:solidFill>
                  <a:srgbClr val="007000"/>
                </a:solidFill>
                <a:latin typeface="Times New Roman" charset="0"/>
              </a:rPr>
              <a:t>Real-time Systems</a:t>
            </a:r>
            <a:endParaRPr lang="en-AU" sz="2800" b="1">
              <a:solidFill>
                <a:srgbClr val="007000"/>
              </a:solidFill>
              <a:latin typeface="Times New Roman" charset="0"/>
            </a:endParaRPr>
          </a:p>
        </p:txBody>
      </p:sp>
      <p:sp>
        <p:nvSpPr>
          <p:cNvPr id="3962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703512" y="838200"/>
            <a:ext cx="8735888" cy="4724400"/>
          </a:xfrm>
        </p:spPr>
        <p:txBody>
          <a:bodyPr>
            <a:normAutofit lnSpcReduction="10000"/>
          </a:bodyPr>
          <a:lstStyle/>
          <a:p>
            <a:pPr>
              <a:spcBef>
                <a:spcPts val="0"/>
              </a:spcBef>
              <a:spcAft>
                <a:spcPts val="600"/>
              </a:spcAft>
              <a:defRPr/>
            </a:pPr>
            <a:r>
              <a:rPr sz="2200" noProof="1">
                <a:solidFill>
                  <a:srgbClr val="0000FF"/>
                </a:solidFill>
                <a:latin typeface="Times New Roman" charset="0"/>
              </a:rPr>
              <a:t>Well-defined fixed-time constraint – the system is functional if it returns the correct result within the time constraint.</a:t>
            </a:r>
          </a:p>
          <a:p>
            <a:pPr>
              <a:spcBef>
                <a:spcPts val="0"/>
              </a:spcBef>
              <a:spcAft>
                <a:spcPts val="600"/>
              </a:spcAft>
              <a:defRPr/>
            </a:pPr>
            <a:r>
              <a:rPr sz="2200" noProof="1">
                <a:solidFill>
                  <a:srgbClr val="0000FF"/>
                </a:solidFill>
                <a:latin typeface="Times New Roman" charset="0"/>
              </a:rPr>
              <a:t>Hard real-time system.</a:t>
            </a:r>
          </a:p>
          <a:p>
            <a:pPr lvl="1">
              <a:spcBef>
                <a:spcPts val="0"/>
              </a:spcBef>
              <a:spcAft>
                <a:spcPts val="600"/>
              </a:spcAft>
              <a:buSzPct val="45000"/>
              <a:buFont typeface="Wingdings" charset="0"/>
              <a:buChar char="v"/>
              <a:defRPr/>
            </a:pPr>
            <a:r>
              <a:rPr sz="2000" noProof="1">
                <a:solidFill>
                  <a:srgbClr val="0000FF"/>
                </a:solidFill>
                <a:latin typeface="Times New Roman" charset="0"/>
              </a:rPr>
              <a:t>Guarantees that critical tasks complete on time.</a:t>
            </a:r>
          </a:p>
          <a:p>
            <a:pPr lvl="1">
              <a:spcBef>
                <a:spcPts val="0"/>
              </a:spcBef>
              <a:spcAft>
                <a:spcPts val="600"/>
              </a:spcAft>
              <a:buSzPct val="45000"/>
              <a:buFont typeface="Wingdings" charset="0"/>
              <a:buChar char="v"/>
              <a:defRPr/>
            </a:pPr>
            <a:r>
              <a:rPr sz="2000" noProof="1">
                <a:solidFill>
                  <a:srgbClr val="0000FF"/>
                </a:solidFill>
                <a:latin typeface="Times New Roman" charset="0"/>
              </a:rPr>
              <a:t>Often used  as a control device in a dedicated application</a:t>
            </a:r>
          </a:p>
          <a:p>
            <a:pPr lvl="2">
              <a:spcBef>
                <a:spcPts val="0"/>
              </a:spcBef>
              <a:spcAft>
                <a:spcPts val="600"/>
              </a:spcAft>
              <a:buSzPct val="45000"/>
              <a:buFont typeface="Wingdings" charset="0"/>
              <a:buChar char="v"/>
              <a:defRPr/>
            </a:pPr>
            <a:r>
              <a:rPr sz="1800" noProof="1">
                <a:solidFill>
                  <a:srgbClr val="0000FF"/>
                </a:solidFill>
                <a:latin typeface="Times New Roman" charset="0"/>
              </a:rPr>
              <a:t>controlling scientific experiments, medical imaging systems, industrial control systems, and some display systems</a:t>
            </a:r>
          </a:p>
          <a:p>
            <a:pPr lvl="1">
              <a:spcBef>
                <a:spcPts val="0"/>
              </a:spcBef>
              <a:spcAft>
                <a:spcPts val="600"/>
              </a:spcAft>
              <a:buSzPct val="45000"/>
              <a:buFont typeface="Wingdings" charset="0"/>
              <a:buChar char="v"/>
              <a:defRPr/>
            </a:pPr>
            <a:r>
              <a:rPr sz="2000" noProof="1">
                <a:solidFill>
                  <a:srgbClr val="0000FF"/>
                </a:solidFill>
                <a:latin typeface="Times New Roman" charset="0"/>
              </a:rPr>
              <a:t>Secondary storage is limited or absent</a:t>
            </a:r>
          </a:p>
          <a:p>
            <a:pPr lvl="2">
              <a:spcBef>
                <a:spcPts val="0"/>
              </a:spcBef>
              <a:spcAft>
                <a:spcPts val="600"/>
              </a:spcAft>
              <a:buSzPct val="45000"/>
              <a:buFont typeface="Wingdings" charset="0"/>
              <a:buChar char="v"/>
              <a:defRPr/>
            </a:pPr>
            <a:r>
              <a:rPr sz="1800" noProof="1">
                <a:solidFill>
                  <a:srgbClr val="0000FF"/>
                </a:solidFill>
                <a:latin typeface="Times New Roman" charset="0"/>
              </a:rPr>
              <a:t>data is stored in short-term memory, or in ROM.</a:t>
            </a:r>
          </a:p>
          <a:p>
            <a:pPr lvl="1">
              <a:spcBef>
                <a:spcPts val="0"/>
              </a:spcBef>
              <a:spcAft>
                <a:spcPts val="600"/>
              </a:spcAft>
              <a:buSzPct val="45000"/>
              <a:buFont typeface="Wingdings" charset="0"/>
              <a:buChar char="v"/>
              <a:defRPr/>
            </a:pPr>
            <a:r>
              <a:rPr sz="2000" noProof="1">
                <a:solidFill>
                  <a:srgbClr val="0000FF"/>
                </a:solidFill>
                <a:latin typeface="Times New Roman" charset="0"/>
              </a:rPr>
              <a:t>Realtime vs. time-sharing systems?</a:t>
            </a:r>
            <a:r>
              <a:rPr sz="2000" noProof="1">
                <a:solidFill>
                  <a:srgbClr val="0000FF"/>
                </a:solidFill>
                <a:latin typeface="Times New Roman" charset="0"/>
                <a:cs typeface="Times New Roman" charset="0"/>
              </a:rPr>
              <a:t>	</a:t>
            </a:r>
            <a:endParaRPr sz="2000" noProof="1">
              <a:solidFill>
                <a:srgbClr val="0000FF"/>
              </a:solidFill>
              <a:latin typeface="Times New Roman" charset="0"/>
            </a:endParaRPr>
          </a:p>
          <a:p>
            <a:pPr>
              <a:spcBef>
                <a:spcPts val="0"/>
              </a:spcBef>
              <a:spcAft>
                <a:spcPts val="600"/>
              </a:spcAft>
              <a:defRPr/>
            </a:pPr>
            <a:r>
              <a:rPr sz="2200" noProof="1">
                <a:solidFill>
                  <a:srgbClr val="0000FF"/>
                </a:solidFill>
                <a:latin typeface="Times New Roman" charset="0"/>
              </a:rPr>
              <a:t>Soft real-time system</a:t>
            </a:r>
          </a:p>
          <a:p>
            <a:pPr lvl="1">
              <a:spcBef>
                <a:spcPts val="0"/>
              </a:spcBef>
              <a:spcAft>
                <a:spcPts val="600"/>
              </a:spcAft>
              <a:buSzPct val="45000"/>
              <a:buFont typeface="Wingdings" charset="0"/>
              <a:buChar char="v"/>
              <a:defRPr/>
            </a:pPr>
            <a:r>
              <a:rPr sz="2000" noProof="1">
                <a:solidFill>
                  <a:srgbClr val="0000FF"/>
                </a:solidFill>
                <a:latin typeface="Times New Roman" charset="0"/>
              </a:rPr>
              <a:t>A critical-time task gets priority over others until it completes.</a:t>
            </a:r>
          </a:p>
          <a:p>
            <a:pPr lvl="1">
              <a:spcBef>
                <a:spcPts val="0"/>
              </a:spcBef>
              <a:spcAft>
                <a:spcPts val="600"/>
              </a:spcAft>
              <a:buSzPct val="45000"/>
              <a:buFont typeface="Wingdings" charset="0"/>
              <a:buChar char="v"/>
              <a:defRPr/>
            </a:pPr>
            <a:r>
              <a:rPr sz="2000" noProof="1">
                <a:solidFill>
                  <a:srgbClr val="0000FF"/>
                </a:solidFill>
                <a:latin typeface="Times New Roman" charset="0"/>
              </a:rPr>
              <a:t>Limited utility in industrial control robotics.</a:t>
            </a:r>
          </a:p>
          <a:p>
            <a:pPr lvl="1">
              <a:spcBef>
                <a:spcPts val="0"/>
              </a:spcBef>
              <a:spcAft>
                <a:spcPts val="600"/>
              </a:spcAft>
              <a:buSzPct val="45000"/>
              <a:buFont typeface="Wingdings" charset="0"/>
              <a:buChar char="v"/>
              <a:defRPr/>
            </a:pPr>
            <a:r>
              <a:rPr sz="2000" noProof="1">
                <a:solidFill>
                  <a:srgbClr val="0000FF"/>
                </a:solidFill>
                <a:latin typeface="Times New Roman" charset="0"/>
              </a:rPr>
              <a:t>Useful in applications (multimedia) requiring advanced OS features.</a:t>
            </a:r>
          </a:p>
          <a:p>
            <a:pPr lvl="1">
              <a:spcBef>
                <a:spcPts val="0"/>
              </a:spcBef>
              <a:spcAft>
                <a:spcPts val="600"/>
              </a:spcAft>
              <a:buSzPct val="45000"/>
              <a:buFont typeface="Wingdings" charset="0"/>
              <a:buChar char="v"/>
              <a:defRPr/>
            </a:pPr>
            <a:endParaRPr sz="1600" noProof="1">
              <a:solidFill>
                <a:srgbClr val="0000FF"/>
              </a:solidFill>
              <a:latin typeface="Times New Roman" charset="0"/>
            </a:endParaRPr>
          </a:p>
        </p:txBody>
      </p:sp>
      <p:sp>
        <p:nvSpPr>
          <p:cNvPr id="396292" name="Rectangle 4"/>
          <p:cNvSpPr>
            <a:spLocks noChangeArrowheads="1"/>
          </p:cNvSpPr>
          <p:nvPr/>
        </p:nvSpPr>
        <p:spPr bwMode="auto">
          <a:xfrm>
            <a:off x="4648201" y="1447800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0662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2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3962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2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" dur="500"/>
                                        <p:tgtEl>
                                          <p:spTgt spid="3962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2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3" dur="500"/>
                                        <p:tgtEl>
                                          <p:spTgt spid="3962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2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6" dur="500"/>
                                        <p:tgtEl>
                                          <p:spTgt spid="3962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2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9" dur="500"/>
                                        <p:tgtEl>
                                          <p:spTgt spid="3962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2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3962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29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5" dur="500"/>
                                        <p:tgtEl>
                                          <p:spTgt spid="39629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29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0" dur="500"/>
                                        <p:tgtEl>
                                          <p:spTgt spid="39629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29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3" dur="500"/>
                                        <p:tgtEl>
                                          <p:spTgt spid="39629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29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6" dur="500"/>
                                        <p:tgtEl>
                                          <p:spTgt spid="39629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29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9" dur="500"/>
                                        <p:tgtEl>
                                          <p:spTgt spid="39629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6291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3C54A7C-38F5-D14A-BB61-B035CE194F70}" type="slidenum">
              <a:rPr lang="en-AU"/>
              <a:pPr>
                <a:defRPr/>
              </a:pPr>
              <a:t>14</a:t>
            </a:fld>
            <a:endParaRPr lang="en-AU"/>
          </a:p>
        </p:txBody>
      </p:sp>
      <p:sp>
        <p:nvSpPr>
          <p:cNvPr id="206850" name="Rectangle 2"/>
          <p:cNvSpPr>
            <a:spLocks noGrp="1" noChangeArrowheads="1"/>
          </p:cNvSpPr>
          <p:nvPr>
            <p:ph type="title"/>
          </p:nvPr>
        </p:nvSpPr>
        <p:spPr>
          <a:xfrm>
            <a:off x="1752600" y="152401"/>
            <a:ext cx="8610600" cy="519113"/>
          </a:xfrm>
          <a:extLst>
            <a:ext uri="{91240B29-F687-4f45-9708-019B960494DF}">
              <a14:hiddenLine xmlns:a14="http://schemas.microsoft.com/office/drawing/2010/main" xmlns="" w="9525" cap="flat" cmpd="sng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defRPr/>
            </a:pPr>
            <a:r>
              <a:rPr sz="2800" b="1" noProof="1">
                <a:solidFill>
                  <a:srgbClr val="007000"/>
                </a:solidFill>
                <a:latin typeface="Times New Roman" charset="0"/>
              </a:rPr>
              <a:t>Virtual</a:t>
            </a:r>
            <a:r>
              <a:rPr lang="en-AU" sz="2800" b="1" noProof="1">
                <a:solidFill>
                  <a:srgbClr val="007000"/>
                </a:solidFill>
                <a:latin typeface="Times New Roman" charset="0"/>
              </a:rPr>
              <a:t>ization</a:t>
            </a:r>
            <a:endParaRPr lang="en-US" sz="2800" b="1" dirty="0">
              <a:solidFill>
                <a:srgbClr val="007000"/>
              </a:solidFill>
              <a:latin typeface="Times New Roman" charset="0"/>
            </a:endParaRPr>
          </a:p>
        </p:txBody>
      </p:sp>
      <p:sp>
        <p:nvSpPr>
          <p:cNvPr id="2068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775520" y="764704"/>
            <a:ext cx="8640960" cy="5472608"/>
          </a:xfrm>
        </p:spPr>
        <p:txBody>
          <a:bodyPr/>
          <a:lstStyle/>
          <a:p>
            <a:pPr algn="just" eaLnBrk="1" hangingPunct="1">
              <a:defRPr/>
            </a:pPr>
            <a:r>
              <a:rPr lang="en-AU" sz="2400" noProof="1">
                <a:solidFill>
                  <a:srgbClr val="0000FF"/>
                </a:solidFill>
                <a:latin typeface="Times New Roman" charset="0"/>
              </a:rPr>
              <a:t>Virtualization technology allows an OS to run as applications on other OS</a:t>
            </a:r>
          </a:p>
          <a:p>
            <a:pPr lvl="1" algn="just" eaLnBrk="1" hangingPunct="1">
              <a:defRPr/>
            </a:pPr>
            <a:r>
              <a:rPr lang="en-AU" sz="2000" noProof="1">
                <a:solidFill>
                  <a:srgbClr val="0000FF"/>
                </a:solidFill>
                <a:latin typeface="Times New Roman" charset="0"/>
              </a:rPr>
              <a:t>It is a software that includes an </a:t>
            </a:r>
            <a:r>
              <a:rPr lang="en-AU" sz="2000" b="1" noProof="1">
                <a:solidFill>
                  <a:srgbClr val="0000FF"/>
                </a:solidFill>
                <a:latin typeface="Times New Roman" charset="0"/>
              </a:rPr>
              <a:t>emulation</a:t>
            </a:r>
            <a:r>
              <a:rPr lang="en-AU" sz="2000" noProof="1">
                <a:solidFill>
                  <a:srgbClr val="0000FF"/>
                </a:solidFill>
                <a:latin typeface="Times New Roman" charset="0"/>
              </a:rPr>
              <a:t> that is used when the type of source CPU is different from that of the target CPU </a:t>
            </a:r>
          </a:p>
          <a:p>
            <a:pPr marL="982663" lvl="2" indent="-263525" algn="just">
              <a:defRPr/>
            </a:pPr>
            <a:r>
              <a:rPr lang="en-AU" sz="1800" noProof="1">
                <a:solidFill>
                  <a:srgbClr val="0000FF"/>
                </a:solidFill>
                <a:latin typeface="Times New Roman" charset="0"/>
              </a:rPr>
              <a:t>e.g., it allows applications compiled for a IBM power CPU to run on Intel CPU  </a:t>
            </a:r>
          </a:p>
        </p:txBody>
      </p:sp>
      <p:graphicFrame>
        <p:nvGraphicFramePr>
          <p:cNvPr id="93188" name="Object 5"/>
          <p:cNvGraphicFramePr>
            <a:graphicFrameLocks noChangeAspect="1"/>
          </p:cNvGraphicFramePr>
          <p:nvPr/>
        </p:nvGraphicFramePr>
        <p:xfrm>
          <a:off x="2598739" y="3473450"/>
          <a:ext cx="6873875" cy="2171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3" imgW="5816600" imgH="1854200" progId="Word.Document.8">
                  <p:embed/>
                </p:oleObj>
              </mc:Choice>
              <mc:Fallback>
                <p:oleObj name="Document" r:id="rId3" imgW="5816600" imgH="1854200" progId="Word.Document.8">
                  <p:embed/>
                  <p:pic>
                    <p:nvPicPr>
                      <p:cNvPr id="93188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98739" y="3473450"/>
                        <a:ext cx="6873875" cy="2171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xmlns="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 xmlns="">
                            <a:effectLst>
                              <a:outerShdw blurRad="63500" dist="38099" dir="2700000" algn="ctr" rotWithShape="0">
                                <a:srgbClr val="00000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6854" name="Line 6"/>
          <p:cNvSpPr>
            <a:spLocks noChangeShapeType="1"/>
          </p:cNvSpPr>
          <p:nvPr/>
        </p:nvSpPr>
        <p:spPr bwMode="auto">
          <a:xfrm>
            <a:off x="5591176" y="4221163"/>
            <a:ext cx="360363" cy="1444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/>
          </a:p>
        </p:txBody>
      </p:sp>
      <p:graphicFrame>
        <p:nvGraphicFramePr>
          <p:cNvPr id="93190" name="Object 4"/>
          <p:cNvGraphicFramePr>
            <a:graphicFrameLocks noChangeAspect="1"/>
          </p:cNvGraphicFramePr>
          <p:nvPr/>
        </p:nvGraphicFramePr>
        <p:xfrm>
          <a:off x="3000376" y="3284538"/>
          <a:ext cx="6454775" cy="2222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5" imgW="5880100" imgH="2044700" progId="Word.Document.8">
                  <p:embed/>
                </p:oleObj>
              </mc:Choice>
              <mc:Fallback>
                <p:oleObj name="Document" r:id="rId5" imgW="5880100" imgH="2044700" progId="Word.Document.8">
                  <p:embed/>
                  <p:pic>
                    <p:nvPicPr>
                      <p:cNvPr id="9319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00376" y="3284538"/>
                        <a:ext cx="6454775" cy="2222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xmlns="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 xmlns="">
                            <a:effectLst>
                              <a:outerShdw blurRad="63500" dist="38099" dir="2700000" algn="ctr" rotWithShape="0">
                                <a:srgbClr val="00000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94777300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FACF934-FD63-8F4A-908A-F4436532AC07}" type="slidenum">
              <a:rPr lang="en-AU"/>
              <a:pPr>
                <a:defRPr/>
              </a:pPr>
              <a:t>15</a:t>
            </a:fld>
            <a:endParaRPr lang="en-AU"/>
          </a:p>
        </p:txBody>
      </p:sp>
      <p:sp>
        <p:nvSpPr>
          <p:cNvPr id="222210" name="Rectangle 2"/>
          <p:cNvSpPr>
            <a:spLocks noGrp="1" noChangeArrowheads="1"/>
          </p:cNvSpPr>
          <p:nvPr>
            <p:ph type="title"/>
          </p:nvPr>
        </p:nvSpPr>
        <p:spPr>
          <a:xfrm>
            <a:off x="1752600" y="152401"/>
            <a:ext cx="8610600" cy="519113"/>
          </a:xfrm>
          <a:extLst>
            <a:ext uri="{91240B29-F687-4f45-9708-019B960494DF}">
              <a14:hiddenLine xmlns:a14="http://schemas.microsoft.com/office/drawing/2010/main" xmlns="" w="9525" cap="flat" cmpd="sng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defRPr/>
            </a:pPr>
            <a:r>
              <a:rPr lang="en-AU" sz="2800" b="1" noProof="1">
                <a:solidFill>
                  <a:srgbClr val="007000"/>
                </a:solidFill>
                <a:latin typeface="Times New Roman" charset="0"/>
              </a:rPr>
              <a:t>OS Operation</a:t>
            </a:r>
            <a:endParaRPr lang="en-US" sz="2800" b="1" dirty="0">
              <a:solidFill>
                <a:srgbClr val="007000"/>
              </a:solidFill>
              <a:latin typeface="Times New Roman" charset="0"/>
            </a:endParaRPr>
          </a:p>
        </p:txBody>
      </p:sp>
      <p:sp>
        <p:nvSpPr>
          <p:cNvPr id="2222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775520" y="836712"/>
            <a:ext cx="8640960" cy="4038600"/>
          </a:xfrm>
        </p:spPr>
        <p:txBody>
          <a:bodyPr/>
          <a:lstStyle/>
          <a:p>
            <a:pPr algn="just">
              <a:spcBef>
                <a:spcPts val="0"/>
              </a:spcBef>
              <a:spcAft>
                <a:spcPts val="600"/>
              </a:spcAft>
              <a:defRPr/>
            </a:pPr>
            <a:r>
              <a:rPr sz="2000" noProof="1">
                <a:solidFill>
                  <a:srgbClr val="0000FF"/>
                </a:solidFill>
                <a:latin typeface="Times New Roman" charset="0"/>
              </a:rPr>
              <a:t>In multiprogramming, OS must ensure that an incorrect (or malicious) program cannot cause other programs to execute incorrectly.</a:t>
            </a:r>
          </a:p>
          <a:p>
            <a:pPr algn="just">
              <a:spcBef>
                <a:spcPts val="0"/>
              </a:spcBef>
              <a:spcAft>
                <a:spcPts val="600"/>
              </a:spcAft>
              <a:defRPr/>
            </a:pPr>
            <a:r>
              <a:rPr sz="2000" noProof="1">
                <a:solidFill>
                  <a:srgbClr val="0000FF"/>
                </a:solidFill>
                <a:latin typeface="Times New Roman" charset="0"/>
              </a:rPr>
              <a:t>Many programming errors are detected by the hardware, and the errors are normally handled by the OS.</a:t>
            </a:r>
            <a:endParaRPr b="1" u="sng" noProof="1">
              <a:solidFill>
                <a:srgbClr val="0000FF"/>
              </a:solidFill>
              <a:latin typeface="Times New Roman" charset="0"/>
            </a:endParaRPr>
          </a:p>
          <a:p>
            <a:pPr>
              <a:spcBef>
                <a:spcPts val="0"/>
              </a:spcBef>
              <a:spcAft>
                <a:spcPts val="600"/>
              </a:spcAft>
              <a:buNone/>
              <a:defRPr/>
            </a:pPr>
            <a:endParaRPr sz="2000" b="1" u="sng" noProof="1">
              <a:solidFill>
                <a:srgbClr val="0000FF"/>
              </a:solidFill>
              <a:latin typeface="Times New Roman" charset="0"/>
            </a:endParaRPr>
          </a:p>
          <a:p>
            <a:pPr>
              <a:spcBef>
                <a:spcPts val="0"/>
              </a:spcBef>
              <a:spcAft>
                <a:spcPts val="600"/>
              </a:spcAft>
              <a:buNone/>
              <a:defRPr/>
            </a:pPr>
            <a:r>
              <a:rPr sz="2000" b="1" u="sng" noProof="1">
                <a:solidFill>
                  <a:srgbClr val="0000FF"/>
                </a:solidFill>
                <a:latin typeface="Times New Roman" charset="0"/>
              </a:rPr>
              <a:t>Dual-mode operation</a:t>
            </a:r>
            <a:endParaRPr sz="2000" noProof="1">
              <a:solidFill>
                <a:srgbClr val="0000FF"/>
              </a:solidFill>
              <a:latin typeface="Times New Roman" charset="0"/>
            </a:endParaRPr>
          </a:p>
          <a:p>
            <a:pPr>
              <a:spcBef>
                <a:spcPts val="0"/>
              </a:spcBef>
              <a:spcAft>
                <a:spcPts val="600"/>
              </a:spcAft>
              <a:defRPr/>
            </a:pPr>
            <a:r>
              <a:rPr sz="2000" noProof="1">
                <a:solidFill>
                  <a:srgbClr val="0000FF"/>
                </a:solidFill>
                <a:latin typeface="Times New Roman" charset="0"/>
              </a:rPr>
              <a:t>Hardware provides at least two modes of  operations:</a:t>
            </a:r>
          </a:p>
          <a:p>
            <a:pPr lvl="1">
              <a:spcBef>
                <a:spcPts val="0"/>
              </a:spcBef>
              <a:spcAft>
                <a:spcPts val="600"/>
              </a:spcAft>
              <a:defRPr/>
            </a:pPr>
            <a:r>
              <a:rPr sz="1800" noProof="1">
                <a:solidFill>
                  <a:srgbClr val="0000FF"/>
                </a:solidFill>
                <a:latin typeface="Times New Roman" charset="0"/>
              </a:rPr>
              <a:t>User mode – in which user programs run.</a:t>
            </a:r>
          </a:p>
          <a:p>
            <a:pPr lvl="1">
              <a:spcBef>
                <a:spcPts val="0"/>
              </a:spcBef>
              <a:spcAft>
                <a:spcPts val="600"/>
              </a:spcAft>
              <a:defRPr/>
            </a:pPr>
            <a:r>
              <a:rPr sz="1800" noProof="1">
                <a:solidFill>
                  <a:srgbClr val="0000FF"/>
                </a:solidFill>
                <a:latin typeface="Times New Roman" charset="0"/>
              </a:rPr>
              <a:t>Monitor mode, also called Supervisor, System, or privileged mode.</a:t>
            </a:r>
          </a:p>
          <a:p>
            <a:pPr>
              <a:spcBef>
                <a:spcPts val="0"/>
              </a:spcBef>
              <a:spcAft>
                <a:spcPts val="600"/>
              </a:spcAft>
              <a:defRPr/>
            </a:pPr>
            <a:r>
              <a:rPr sz="2000" noProof="1">
                <a:solidFill>
                  <a:srgbClr val="0000FF"/>
                </a:solidFill>
                <a:latin typeface="Times New Roman" charset="0"/>
              </a:rPr>
              <a:t>Mode bit is provided by the hardware to indicate the current mode: monitor (0) or user (1).</a:t>
            </a:r>
            <a:endParaRPr lang="en-US" sz="2000" dirty="0">
              <a:solidFill>
                <a:srgbClr val="0000FF"/>
              </a:solidFill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351798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2222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2222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5" dur="500"/>
                                        <p:tgtEl>
                                          <p:spTgt spid="2222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8" dur="500"/>
                                        <p:tgtEl>
                                          <p:spTgt spid="2222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1" dur="500"/>
                                        <p:tgtEl>
                                          <p:spTgt spid="2222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6" dur="500"/>
                                        <p:tgtEl>
                                          <p:spTgt spid="2222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2211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5C16FA2-671D-4544-BDCB-1F9B361CC263}" type="slidenum">
              <a:rPr lang="en-AU"/>
              <a:pPr>
                <a:defRPr/>
              </a:pPr>
              <a:t>16</a:t>
            </a:fld>
            <a:endParaRPr lang="en-AU"/>
          </a:p>
        </p:txBody>
      </p:sp>
      <p:sp>
        <p:nvSpPr>
          <p:cNvPr id="223234" name="Rectangle 2"/>
          <p:cNvSpPr>
            <a:spLocks noGrp="1" noChangeArrowheads="1"/>
          </p:cNvSpPr>
          <p:nvPr>
            <p:ph type="title"/>
          </p:nvPr>
        </p:nvSpPr>
        <p:spPr>
          <a:xfrm>
            <a:off x="1752600" y="152401"/>
            <a:ext cx="8610600" cy="519113"/>
          </a:xfrm>
          <a:extLst>
            <a:ext uri="{91240B29-F687-4f45-9708-019B960494DF}">
              <a14:hiddenLine xmlns:a14="http://schemas.microsoft.com/office/drawing/2010/main" xmlns="" w="9525" cap="flat" cmpd="sng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defRPr/>
            </a:pPr>
            <a:r>
              <a:rPr lang="en-AU" sz="2800" b="1" noProof="1">
                <a:solidFill>
                  <a:srgbClr val="007000"/>
                </a:solidFill>
                <a:latin typeface="Times New Roman" charset="0"/>
              </a:rPr>
              <a:t>OS Operation </a:t>
            </a:r>
            <a:r>
              <a:rPr sz="2800" b="1" noProof="1">
                <a:solidFill>
                  <a:srgbClr val="007000"/>
                </a:solidFill>
                <a:latin typeface="Times New Roman" charset="0"/>
              </a:rPr>
              <a:t>(cont.)</a:t>
            </a:r>
            <a:endParaRPr lang="en-US" sz="2800" b="1" dirty="0">
              <a:solidFill>
                <a:srgbClr val="007000"/>
              </a:solidFill>
              <a:latin typeface="Times New Roman" charset="0"/>
            </a:endParaRPr>
          </a:p>
        </p:txBody>
      </p:sp>
      <p:sp>
        <p:nvSpPr>
          <p:cNvPr id="2232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775520" y="762001"/>
            <a:ext cx="8568952" cy="3387725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 typeface="Wingdings" charset="0"/>
              <a:buNone/>
              <a:defRPr/>
            </a:pPr>
            <a:r>
              <a:rPr sz="2000" b="1" noProof="1">
                <a:solidFill>
                  <a:srgbClr val="0000FF"/>
                </a:solidFill>
                <a:latin typeface="Times New Roman" charset="0"/>
              </a:rPr>
              <a:t>Dual-mode operation (cont.)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sz="2000" noProof="1">
                <a:solidFill>
                  <a:srgbClr val="0000FF"/>
                </a:solidFill>
                <a:latin typeface="Times New Roman" charset="0"/>
              </a:rPr>
              <a:t>Some machine instructions that may cause harm are designated (by hardware) as </a:t>
            </a:r>
            <a:r>
              <a:rPr sz="2000" b="1" noProof="1">
                <a:solidFill>
                  <a:srgbClr val="0000FF"/>
                </a:solidFill>
                <a:latin typeface="Times New Roman" charset="0"/>
              </a:rPr>
              <a:t>privileged instructions</a:t>
            </a:r>
            <a:r>
              <a:rPr sz="2000" noProof="1">
                <a:solidFill>
                  <a:srgbClr val="0000FF"/>
                </a:solidFill>
                <a:latin typeface="Times New Roman" charset="0"/>
              </a:rPr>
              <a:t>.</a:t>
            </a:r>
            <a:endParaRPr lang="en-AU" sz="2000" noProof="1">
              <a:solidFill>
                <a:srgbClr val="0000FF"/>
              </a:solidFill>
              <a:latin typeface="Times New Roman" charset="0"/>
            </a:endParaRPr>
          </a:p>
          <a:p>
            <a:pPr lvl="1" eaLnBrk="1" hangingPunct="1">
              <a:lnSpc>
                <a:spcPct val="90000"/>
              </a:lnSpc>
              <a:defRPr/>
            </a:pPr>
            <a:r>
              <a:rPr lang="en-AU" sz="1600" noProof="1">
                <a:solidFill>
                  <a:srgbClr val="0000FF"/>
                </a:solidFill>
                <a:latin typeface="Times New Roman" charset="0"/>
              </a:rPr>
              <a:t>E.g., the MSB of the machine code of the instruction is a bit ‘0’</a:t>
            </a:r>
            <a:endParaRPr sz="1600" noProof="1">
              <a:solidFill>
                <a:srgbClr val="0000FF"/>
              </a:solidFill>
              <a:latin typeface="Times New Roman" charset="0"/>
            </a:endParaRPr>
          </a:p>
          <a:p>
            <a:pPr eaLnBrk="1" hangingPunct="1">
              <a:lnSpc>
                <a:spcPct val="90000"/>
              </a:lnSpc>
              <a:defRPr/>
            </a:pPr>
            <a:r>
              <a:rPr sz="2000" noProof="1">
                <a:solidFill>
                  <a:srgbClr val="0000FF"/>
                </a:solidFill>
                <a:latin typeface="Times New Roman" charset="0"/>
              </a:rPr>
              <a:t>A privileged instruction can be executed only in monitor mode.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sz="2000" noProof="1">
                <a:solidFill>
                  <a:srgbClr val="0000FF"/>
                </a:solidFill>
                <a:latin typeface="Times New Roman" charset="0"/>
              </a:rPr>
              <a:t>At system boot-time the hardware starts in monitor mode </a:t>
            </a:r>
            <a:r>
              <a:rPr sz="2000" noProof="1">
                <a:solidFill>
                  <a:srgbClr val="0000FF"/>
                </a:solidFill>
                <a:latin typeface="Times New Roman" charset="0"/>
                <a:sym typeface="Wingdings" charset="0"/>
              </a:rPr>
              <a:t></a:t>
            </a:r>
            <a:r>
              <a:rPr sz="2000" noProof="1">
                <a:solidFill>
                  <a:srgbClr val="0000FF"/>
                </a:solidFill>
                <a:latin typeface="Times New Roman" charset="0"/>
              </a:rPr>
              <a:t> OS is loaded.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sz="2000" noProof="1">
                <a:solidFill>
                  <a:srgbClr val="0000FF"/>
                </a:solidFill>
                <a:latin typeface="Times New Roman" charset="0"/>
              </a:rPr>
              <a:t>OS starts user processes in user mode; a user process could never gain control of the computer in monitor mode.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sz="2000" noProof="1">
                <a:solidFill>
                  <a:srgbClr val="0000FF"/>
                </a:solidFill>
                <a:latin typeface="Times New Roman" charset="0"/>
              </a:rPr>
              <a:t>When an interrupt or fault occurs hardware switches to monitor mode.</a:t>
            </a:r>
            <a:endParaRPr lang="en-US" sz="2000" dirty="0">
              <a:solidFill>
                <a:srgbClr val="0000FF"/>
              </a:solidFill>
              <a:latin typeface="Times New Roman" charset="0"/>
            </a:endParaRPr>
          </a:p>
        </p:txBody>
      </p:sp>
      <p:grpSp>
        <p:nvGrpSpPr>
          <p:cNvPr id="119812" name="Group 4"/>
          <p:cNvGrpSpPr>
            <a:grpSpLocks/>
          </p:cNvGrpSpPr>
          <p:nvPr/>
        </p:nvGrpSpPr>
        <p:grpSpPr bwMode="auto">
          <a:xfrm>
            <a:off x="3863975" y="4652963"/>
            <a:ext cx="4191000" cy="1524000"/>
            <a:chOff x="2781" y="10766"/>
            <a:chExt cx="6660" cy="2668"/>
          </a:xfrm>
        </p:grpSpPr>
        <p:sp>
          <p:nvSpPr>
            <p:cNvPr id="119813" name="Oval 5"/>
            <p:cNvSpPr>
              <a:spLocks noChangeArrowheads="1"/>
            </p:cNvSpPr>
            <p:nvPr/>
          </p:nvSpPr>
          <p:spPr bwMode="auto">
            <a:xfrm>
              <a:off x="2781" y="11096"/>
              <a:ext cx="2160" cy="216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>
                <a:solidFill>
                  <a:srgbClr val="0000FF"/>
                </a:solidFill>
              </a:endParaRPr>
            </a:p>
          </p:txBody>
        </p:sp>
        <p:sp>
          <p:nvSpPr>
            <p:cNvPr id="119814" name="Oval 6"/>
            <p:cNvSpPr>
              <a:spLocks noChangeArrowheads="1"/>
            </p:cNvSpPr>
            <p:nvPr/>
          </p:nvSpPr>
          <p:spPr bwMode="auto">
            <a:xfrm>
              <a:off x="7281" y="11096"/>
              <a:ext cx="2160" cy="216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>
                <a:solidFill>
                  <a:srgbClr val="0000FF"/>
                </a:solidFill>
              </a:endParaRPr>
            </a:p>
          </p:txBody>
        </p:sp>
        <p:sp>
          <p:nvSpPr>
            <p:cNvPr id="119815" name="Text Box 7"/>
            <p:cNvSpPr txBox="1">
              <a:spLocks noChangeArrowheads="1"/>
            </p:cNvSpPr>
            <p:nvPr/>
          </p:nvSpPr>
          <p:spPr bwMode="auto">
            <a:xfrm>
              <a:off x="3141" y="11755"/>
              <a:ext cx="1440" cy="54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9pPr>
            </a:lstStyle>
            <a:p>
              <a:r>
                <a:rPr lang="en-US" sz="1600">
                  <a:solidFill>
                    <a:srgbClr val="0000FF"/>
                  </a:solidFill>
                </a:rPr>
                <a:t>monitor</a:t>
              </a:r>
            </a:p>
          </p:txBody>
        </p:sp>
        <p:sp>
          <p:nvSpPr>
            <p:cNvPr id="119816" name="Text Box 8"/>
            <p:cNvSpPr txBox="1">
              <a:spLocks noChangeArrowheads="1"/>
            </p:cNvSpPr>
            <p:nvPr/>
          </p:nvSpPr>
          <p:spPr bwMode="auto">
            <a:xfrm>
              <a:off x="8001" y="11905"/>
              <a:ext cx="900" cy="54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9pPr>
            </a:lstStyle>
            <a:p>
              <a:r>
                <a:rPr lang="en-US" sz="1600">
                  <a:solidFill>
                    <a:srgbClr val="0000FF"/>
                  </a:solidFill>
                </a:rPr>
                <a:t>user</a:t>
              </a:r>
            </a:p>
          </p:txBody>
        </p:sp>
        <p:sp>
          <p:nvSpPr>
            <p:cNvPr id="119817" name="Line 9"/>
            <p:cNvSpPr>
              <a:spLocks noChangeShapeType="1"/>
            </p:cNvSpPr>
            <p:nvPr/>
          </p:nvSpPr>
          <p:spPr bwMode="auto">
            <a:xfrm flipV="1">
              <a:off x="3681" y="10766"/>
              <a:ext cx="0" cy="36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solidFill>
                  <a:srgbClr val="0000FF"/>
                </a:solidFill>
              </a:endParaRPr>
            </a:p>
          </p:txBody>
        </p:sp>
        <p:sp>
          <p:nvSpPr>
            <p:cNvPr id="119818" name="Line 10"/>
            <p:cNvSpPr>
              <a:spLocks noChangeShapeType="1"/>
            </p:cNvSpPr>
            <p:nvPr/>
          </p:nvSpPr>
          <p:spPr bwMode="auto">
            <a:xfrm>
              <a:off x="3681" y="10766"/>
              <a:ext cx="468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solidFill>
                  <a:srgbClr val="0000FF"/>
                </a:solidFill>
              </a:endParaRPr>
            </a:p>
          </p:txBody>
        </p:sp>
        <p:sp>
          <p:nvSpPr>
            <p:cNvPr id="119819" name="Line 11"/>
            <p:cNvSpPr>
              <a:spLocks noChangeShapeType="1"/>
            </p:cNvSpPr>
            <p:nvPr/>
          </p:nvSpPr>
          <p:spPr bwMode="auto">
            <a:xfrm>
              <a:off x="8361" y="10766"/>
              <a:ext cx="0" cy="36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solidFill>
                  <a:srgbClr val="0000FF"/>
                </a:solidFill>
              </a:endParaRPr>
            </a:p>
          </p:txBody>
        </p:sp>
        <p:sp>
          <p:nvSpPr>
            <p:cNvPr id="119820" name="Line 12"/>
            <p:cNvSpPr>
              <a:spLocks noChangeShapeType="1"/>
            </p:cNvSpPr>
            <p:nvPr/>
          </p:nvSpPr>
          <p:spPr bwMode="auto">
            <a:xfrm>
              <a:off x="8361" y="13074"/>
              <a:ext cx="0" cy="36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solidFill>
                  <a:srgbClr val="0000FF"/>
                </a:solidFill>
              </a:endParaRPr>
            </a:p>
          </p:txBody>
        </p:sp>
        <p:sp>
          <p:nvSpPr>
            <p:cNvPr id="119821" name="Line 13"/>
            <p:cNvSpPr>
              <a:spLocks noChangeShapeType="1"/>
            </p:cNvSpPr>
            <p:nvPr/>
          </p:nvSpPr>
          <p:spPr bwMode="auto">
            <a:xfrm flipH="1">
              <a:off x="3681" y="13403"/>
              <a:ext cx="468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solidFill>
                  <a:srgbClr val="0000FF"/>
                </a:solidFill>
              </a:endParaRPr>
            </a:p>
          </p:txBody>
        </p:sp>
        <p:sp>
          <p:nvSpPr>
            <p:cNvPr id="119822" name="Line 14"/>
            <p:cNvSpPr>
              <a:spLocks noChangeShapeType="1"/>
            </p:cNvSpPr>
            <p:nvPr/>
          </p:nvSpPr>
          <p:spPr bwMode="auto">
            <a:xfrm flipV="1">
              <a:off x="3681" y="13074"/>
              <a:ext cx="0" cy="36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solidFill>
                  <a:srgbClr val="0000FF"/>
                </a:solidFill>
              </a:endParaRPr>
            </a:p>
          </p:txBody>
        </p:sp>
        <p:sp>
          <p:nvSpPr>
            <p:cNvPr id="119823" name="Text Box 15"/>
            <p:cNvSpPr txBox="1">
              <a:spLocks noChangeArrowheads="1"/>
            </p:cNvSpPr>
            <p:nvPr/>
          </p:nvSpPr>
          <p:spPr bwMode="auto">
            <a:xfrm>
              <a:off x="4938" y="10946"/>
              <a:ext cx="2340" cy="54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9pPr>
            </a:lstStyle>
            <a:p>
              <a:r>
                <a:rPr lang="en-US" sz="1600">
                  <a:solidFill>
                    <a:srgbClr val="0000FF"/>
                  </a:solidFill>
                </a:rPr>
                <a:t>Set user mode</a:t>
              </a:r>
            </a:p>
          </p:txBody>
        </p:sp>
        <p:sp>
          <p:nvSpPr>
            <p:cNvPr id="119824" name="Text Box 16"/>
            <p:cNvSpPr txBox="1">
              <a:spLocks noChangeArrowheads="1"/>
            </p:cNvSpPr>
            <p:nvPr/>
          </p:nvSpPr>
          <p:spPr bwMode="auto">
            <a:xfrm>
              <a:off x="4941" y="12744"/>
              <a:ext cx="2340" cy="54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9pPr>
            </a:lstStyle>
            <a:p>
              <a:r>
                <a:rPr lang="en-US" sz="1600">
                  <a:solidFill>
                    <a:srgbClr val="0000FF"/>
                  </a:solidFill>
                </a:rPr>
                <a:t>Interrupt/fault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1305669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2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2232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2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2232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2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2232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2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2232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3235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05B59C0-98DD-5C45-B0C2-E09197CE946F}" type="slidenum">
              <a:rPr lang="en-AU"/>
              <a:pPr>
                <a:defRPr/>
              </a:pPr>
              <a:t>17</a:t>
            </a:fld>
            <a:endParaRPr lang="en-AU"/>
          </a:p>
        </p:txBody>
      </p:sp>
      <p:sp>
        <p:nvSpPr>
          <p:cNvPr id="224258" name="Rectangle 2"/>
          <p:cNvSpPr>
            <a:spLocks noGrp="1" noChangeArrowheads="1"/>
          </p:cNvSpPr>
          <p:nvPr>
            <p:ph type="title"/>
          </p:nvPr>
        </p:nvSpPr>
        <p:spPr>
          <a:xfrm>
            <a:off x="1752600" y="152401"/>
            <a:ext cx="8610600" cy="519113"/>
          </a:xfrm>
          <a:extLst>
            <a:ext uri="{91240B29-F687-4f45-9708-019B960494DF}">
              <a14:hiddenLine xmlns:a14="http://schemas.microsoft.com/office/drawing/2010/main" xmlns="" w="9525" cap="flat" cmpd="sng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defRPr/>
            </a:pPr>
            <a:r>
              <a:rPr lang="en-AU" sz="2800" b="1" noProof="1">
                <a:solidFill>
                  <a:srgbClr val="007000"/>
                </a:solidFill>
                <a:latin typeface="Times New Roman" charset="0"/>
              </a:rPr>
              <a:t>OS Operation </a:t>
            </a:r>
            <a:r>
              <a:rPr sz="2800" b="1" noProof="1">
                <a:solidFill>
                  <a:srgbClr val="007000"/>
                </a:solidFill>
                <a:latin typeface="Times New Roman" charset="0"/>
              </a:rPr>
              <a:t>(cont.)</a:t>
            </a:r>
            <a:endParaRPr lang="en-US" sz="2800" b="1" dirty="0">
              <a:solidFill>
                <a:srgbClr val="007000"/>
              </a:solidFill>
              <a:latin typeface="Times New Roman" charset="0"/>
            </a:endParaRPr>
          </a:p>
        </p:txBody>
      </p:sp>
      <p:sp>
        <p:nvSpPr>
          <p:cNvPr id="2242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775520" y="838200"/>
            <a:ext cx="8568952" cy="3200400"/>
          </a:xfrm>
        </p:spPr>
        <p:txBody>
          <a:bodyPr/>
          <a:lstStyle/>
          <a:p>
            <a:pPr algn="just" eaLnBrk="1" hangingPunct="1">
              <a:buFont typeface="Wingdings" charset="0"/>
              <a:buNone/>
              <a:defRPr/>
            </a:pPr>
            <a:r>
              <a:rPr sz="2000" b="1" u="sng" noProof="1">
                <a:solidFill>
                  <a:srgbClr val="0000FF"/>
                </a:solidFill>
                <a:latin typeface="Times New Roman" charset="0"/>
              </a:rPr>
              <a:t>I/O</a:t>
            </a:r>
          </a:p>
          <a:p>
            <a:pPr algn="just" eaLnBrk="1" hangingPunct="1">
              <a:defRPr/>
            </a:pPr>
            <a:r>
              <a:rPr sz="2000" noProof="1">
                <a:solidFill>
                  <a:srgbClr val="0000FF"/>
                </a:solidFill>
                <a:latin typeface="Times New Roman" charset="0"/>
              </a:rPr>
              <a:t>All I/O instructions are privileged instructions.</a:t>
            </a:r>
          </a:p>
          <a:p>
            <a:pPr eaLnBrk="1" hangingPunct="1">
              <a:defRPr/>
            </a:pPr>
            <a:r>
              <a:rPr sz="2000" noProof="1">
                <a:solidFill>
                  <a:srgbClr val="0000FF"/>
                </a:solidFill>
                <a:latin typeface="Times New Roman" charset="0"/>
              </a:rPr>
              <a:t>How does the user program perform I/O ? </a:t>
            </a:r>
            <a:r>
              <a:rPr sz="2000" noProof="1">
                <a:solidFill>
                  <a:srgbClr val="FF0000"/>
                </a:solidFill>
                <a:latin typeface="Times New Roman" charset="0"/>
              </a:rPr>
              <a:t>Use system call</a:t>
            </a:r>
            <a:r>
              <a:rPr sz="2000" noProof="1">
                <a:solidFill>
                  <a:srgbClr val="0000FF"/>
                </a:solidFill>
                <a:latin typeface="Times New Roman" charset="0"/>
              </a:rPr>
              <a:t>.</a:t>
            </a:r>
          </a:p>
          <a:p>
            <a:pPr lvl="1" algn="just" eaLnBrk="1" hangingPunct="1">
              <a:defRPr/>
            </a:pPr>
            <a:r>
              <a:rPr sz="1800" noProof="1">
                <a:solidFill>
                  <a:srgbClr val="0000FF"/>
                </a:solidFill>
                <a:latin typeface="Times New Roman" charset="0"/>
              </a:rPr>
              <a:t>Usually takes the form of a trap to a specific location in the interrupt vector.</a:t>
            </a:r>
          </a:p>
          <a:p>
            <a:pPr lvl="1" eaLnBrk="1" hangingPunct="1">
              <a:defRPr/>
            </a:pPr>
            <a:r>
              <a:rPr sz="1800" noProof="1">
                <a:solidFill>
                  <a:srgbClr val="0000FF"/>
                </a:solidFill>
                <a:latin typeface="Times New Roman" charset="0"/>
              </a:rPr>
              <a:t>Control passes through the interrupt vector to a service routine in the OS, and the mode bit is set to a monitor mode.</a:t>
            </a:r>
          </a:p>
          <a:p>
            <a:pPr lvl="1" eaLnBrk="1" hangingPunct="1">
              <a:defRPr/>
            </a:pPr>
            <a:r>
              <a:rPr sz="1800" noProof="1">
                <a:solidFill>
                  <a:srgbClr val="0000FF"/>
                </a:solidFill>
                <a:latin typeface="Times New Roman" charset="0"/>
              </a:rPr>
              <a:t>The monitor verifies that the parameters are correct and legal, executes the request, and returns control to the instruction following the system call.</a:t>
            </a:r>
            <a:endParaRPr lang="en-US" sz="1800" dirty="0">
              <a:solidFill>
                <a:srgbClr val="0000FF"/>
              </a:solidFill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070657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2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2242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2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" dur="500"/>
                                        <p:tgtEl>
                                          <p:spTgt spid="2242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2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3" dur="500"/>
                                        <p:tgtEl>
                                          <p:spTgt spid="2242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2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6" dur="500"/>
                                        <p:tgtEl>
                                          <p:spTgt spid="2242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4259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CA01F4C-EBAF-3449-96CD-73C949C9A743}" type="slidenum">
              <a:rPr lang="en-AU"/>
              <a:pPr>
                <a:defRPr/>
              </a:pPr>
              <a:t>18</a:t>
            </a:fld>
            <a:endParaRPr lang="en-AU"/>
          </a:p>
        </p:txBody>
      </p:sp>
      <p:sp>
        <p:nvSpPr>
          <p:cNvPr id="226306" name="Rectangle 2"/>
          <p:cNvSpPr>
            <a:spLocks noGrp="1" noChangeArrowheads="1"/>
          </p:cNvSpPr>
          <p:nvPr>
            <p:ph type="title"/>
          </p:nvPr>
        </p:nvSpPr>
        <p:spPr>
          <a:xfrm>
            <a:off x="1752600" y="76201"/>
            <a:ext cx="8610600" cy="519113"/>
          </a:xfrm>
          <a:extLst>
            <a:ext uri="{91240B29-F687-4f45-9708-019B960494DF}">
              <a14:hiddenLine xmlns:a14="http://schemas.microsoft.com/office/drawing/2010/main" xmlns="" w="9525" cap="flat" cmpd="sng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defRPr/>
            </a:pPr>
            <a:r>
              <a:rPr lang="en-AU" sz="2800" b="1" noProof="1">
                <a:solidFill>
                  <a:srgbClr val="007000"/>
                </a:solidFill>
                <a:latin typeface="Times New Roman" charset="0"/>
              </a:rPr>
              <a:t>OS Operation </a:t>
            </a:r>
            <a:r>
              <a:rPr sz="2800" b="1" noProof="1">
                <a:solidFill>
                  <a:srgbClr val="007000"/>
                </a:solidFill>
                <a:latin typeface="Times New Roman" charset="0"/>
              </a:rPr>
              <a:t>(cont.)</a:t>
            </a:r>
            <a:endParaRPr lang="en-US" sz="2800" b="1" dirty="0">
              <a:solidFill>
                <a:srgbClr val="007000"/>
              </a:solidFill>
              <a:latin typeface="Times New Roman" charset="0"/>
            </a:endParaRPr>
          </a:p>
        </p:txBody>
      </p:sp>
      <p:sp>
        <p:nvSpPr>
          <p:cNvPr id="2263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847528" y="838200"/>
            <a:ext cx="8568952" cy="3581400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 typeface="Wingdings" charset="0"/>
              <a:buNone/>
              <a:defRPr/>
            </a:pPr>
            <a:r>
              <a:rPr sz="2000" b="1" u="sng" noProof="1">
                <a:solidFill>
                  <a:srgbClr val="0000FF"/>
                </a:solidFill>
                <a:latin typeface="Times New Roman" charset="0"/>
              </a:rPr>
              <a:t>Memory </a:t>
            </a:r>
            <a:endParaRPr lang="en-AU" sz="2000" b="1" u="sng" noProof="1">
              <a:solidFill>
                <a:srgbClr val="0000FF"/>
              </a:solidFill>
              <a:latin typeface="Times New Roman" charset="0"/>
            </a:endParaRPr>
          </a:p>
          <a:p>
            <a:pPr eaLnBrk="1" hangingPunct="1">
              <a:lnSpc>
                <a:spcPct val="90000"/>
              </a:lnSpc>
              <a:defRPr/>
            </a:pPr>
            <a:r>
              <a:rPr sz="2000" noProof="1">
                <a:solidFill>
                  <a:srgbClr val="0000FF"/>
                </a:solidFill>
                <a:latin typeface="Times New Roman" charset="0"/>
              </a:rPr>
              <a:t>System must provide memory protection at least for the interrupt vector and the Interrupt Service Routine.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sz="2000" noProof="1">
                <a:solidFill>
                  <a:srgbClr val="0000FF"/>
                </a:solidFill>
                <a:latin typeface="Times New Roman" charset="0"/>
              </a:rPr>
              <a:t>Use two registers that determine the range of legal addresses a program may access: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sz="1800" noProof="1">
                <a:solidFill>
                  <a:srgbClr val="0000FF"/>
                </a:solidFill>
                <a:latin typeface="Times New Roman" charset="0"/>
              </a:rPr>
              <a:t>Base register – holds the smallest legal physical memory address.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sz="1800" noProof="1">
                <a:solidFill>
                  <a:srgbClr val="0000FF"/>
                </a:solidFill>
                <a:latin typeface="Times New Roman" charset="0"/>
              </a:rPr>
              <a:t>Limit register – contains the size of the range.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sz="2000" noProof="1">
                <a:solidFill>
                  <a:srgbClr val="0000FF"/>
                </a:solidFill>
                <a:latin typeface="Times New Roman" charset="0"/>
              </a:rPr>
              <a:t>Memory outside the defined range is protected.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sz="2000" noProof="1">
                <a:solidFill>
                  <a:srgbClr val="0000FF"/>
                </a:solidFill>
                <a:latin typeface="Times New Roman" charset="0"/>
              </a:rPr>
              <a:t>The load instructions for the base and limit registers are privileged instructions.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sz="2000" noProof="1">
                <a:solidFill>
                  <a:srgbClr val="0000FF"/>
                </a:solidFill>
                <a:latin typeface="Times New Roman" charset="0"/>
              </a:rPr>
              <a:t>OS has unrestricted access to monitor and user memory.</a:t>
            </a:r>
          </a:p>
          <a:p>
            <a:pPr eaLnBrk="1" hangingPunct="1">
              <a:lnSpc>
                <a:spcPct val="90000"/>
              </a:lnSpc>
              <a:defRPr/>
            </a:pPr>
            <a:endParaRPr lang="en-US" dirty="0">
              <a:solidFill>
                <a:srgbClr val="0000FF"/>
              </a:solidFill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514171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3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2263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3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" dur="500"/>
                                        <p:tgtEl>
                                          <p:spTgt spid="2263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3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3" dur="500"/>
                                        <p:tgtEl>
                                          <p:spTgt spid="2263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3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8" dur="500"/>
                                        <p:tgtEl>
                                          <p:spTgt spid="2263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30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3" dur="500"/>
                                        <p:tgtEl>
                                          <p:spTgt spid="22630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30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8" dur="500"/>
                                        <p:tgtEl>
                                          <p:spTgt spid="22630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6307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91FC8D0-F2EF-6F48-A1BB-870341B959F2}" type="slidenum">
              <a:rPr lang="en-AU"/>
              <a:pPr>
                <a:defRPr/>
              </a:pPr>
              <a:t>19</a:t>
            </a:fld>
            <a:endParaRPr lang="en-AU"/>
          </a:p>
        </p:txBody>
      </p:sp>
      <p:sp>
        <p:nvSpPr>
          <p:cNvPr id="227330" name="Rectangle 2"/>
          <p:cNvSpPr>
            <a:spLocks noGrp="1" noChangeArrowheads="1"/>
          </p:cNvSpPr>
          <p:nvPr>
            <p:ph type="title"/>
          </p:nvPr>
        </p:nvSpPr>
        <p:spPr>
          <a:xfrm>
            <a:off x="1752600" y="152401"/>
            <a:ext cx="8610600" cy="519113"/>
          </a:xfrm>
        </p:spPr>
        <p:txBody>
          <a:bodyPr/>
          <a:lstStyle/>
          <a:p>
            <a:pPr eaLnBrk="1" hangingPunct="1">
              <a:defRPr/>
            </a:pPr>
            <a:r>
              <a:rPr lang="en-AU" sz="2800" b="1" noProof="1">
                <a:solidFill>
                  <a:srgbClr val="007000"/>
                </a:solidFill>
                <a:latin typeface="Times New Roman" charset="0"/>
              </a:rPr>
              <a:t>OS Operation </a:t>
            </a:r>
            <a:r>
              <a:rPr sz="2800" b="1" noProof="1">
                <a:solidFill>
                  <a:srgbClr val="007000"/>
                </a:solidFill>
                <a:latin typeface="Times New Roman" charset="0"/>
              </a:rPr>
              <a:t>(cont.)</a:t>
            </a:r>
            <a:endParaRPr lang="en-US" sz="3600" dirty="0">
              <a:latin typeface="Times New Roman" charset="0"/>
            </a:endParaRPr>
          </a:p>
        </p:txBody>
      </p:sp>
      <p:sp>
        <p:nvSpPr>
          <p:cNvPr id="2273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752600" y="762000"/>
            <a:ext cx="8610600" cy="2971800"/>
          </a:xfrm>
        </p:spPr>
        <p:txBody>
          <a:bodyPr>
            <a:normAutofit lnSpcReduction="10000"/>
          </a:bodyPr>
          <a:lstStyle/>
          <a:p>
            <a:pPr algn="just" eaLnBrk="1" hangingPunct="1">
              <a:lnSpc>
                <a:spcPct val="90000"/>
              </a:lnSpc>
              <a:buFont typeface="Wingdings" charset="0"/>
              <a:buNone/>
              <a:defRPr/>
            </a:pPr>
            <a:r>
              <a:rPr sz="2000" b="1" u="sng" noProof="1">
                <a:solidFill>
                  <a:srgbClr val="0000FF"/>
                </a:solidFill>
                <a:latin typeface="Times New Roman" charset="0"/>
              </a:rPr>
              <a:t>CPU</a:t>
            </a:r>
            <a:endParaRPr sz="2000" noProof="1">
              <a:solidFill>
                <a:srgbClr val="0000FF"/>
              </a:solidFill>
              <a:latin typeface="Times New Roman" charset="0"/>
            </a:endParaRPr>
          </a:p>
          <a:p>
            <a:pPr eaLnBrk="1" hangingPunct="1">
              <a:lnSpc>
                <a:spcPct val="90000"/>
              </a:lnSpc>
              <a:defRPr/>
            </a:pPr>
            <a:r>
              <a:rPr sz="2000" noProof="1">
                <a:solidFill>
                  <a:srgbClr val="0000FF"/>
                </a:solidFill>
                <a:latin typeface="Times New Roman" charset="0"/>
              </a:rPr>
              <a:t>System must prevent one user program using CPU all the time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sz="1800" noProof="1">
                <a:solidFill>
                  <a:srgbClr val="0000FF"/>
                </a:solidFill>
                <a:latin typeface="Times New Roman" charset="0"/>
              </a:rPr>
              <a:t>Because of getting stuck in an infinite loop, or non-fair users</a:t>
            </a:r>
          </a:p>
          <a:p>
            <a:pPr algn="just" eaLnBrk="1" hangingPunct="1">
              <a:lnSpc>
                <a:spcPct val="90000"/>
              </a:lnSpc>
              <a:defRPr/>
            </a:pPr>
            <a:r>
              <a:rPr sz="2000" noProof="1">
                <a:solidFill>
                  <a:srgbClr val="0000FF"/>
                </a:solidFill>
                <a:latin typeface="Times New Roman" charset="0"/>
              </a:rPr>
              <a:t>Use </a:t>
            </a:r>
            <a:r>
              <a:rPr sz="2000" i="1" noProof="1">
                <a:solidFill>
                  <a:srgbClr val="0000FF"/>
                </a:solidFill>
                <a:latin typeface="Times New Roman" charset="0"/>
              </a:rPr>
              <a:t>timer</a:t>
            </a:r>
            <a:r>
              <a:rPr sz="2000" noProof="1">
                <a:solidFill>
                  <a:srgbClr val="0000FF"/>
                </a:solidFill>
                <a:latin typeface="Times New Roman" charset="0"/>
              </a:rPr>
              <a:t> interrupt after specified period to ensure OS maintains control  </a:t>
            </a:r>
          </a:p>
          <a:p>
            <a:pPr lvl="1" algn="just" eaLnBrk="1" hangingPunct="1">
              <a:lnSpc>
                <a:spcPct val="90000"/>
              </a:lnSpc>
              <a:defRPr/>
            </a:pPr>
            <a:r>
              <a:rPr sz="1800" noProof="1">
                <a:solidFill>
                  <a:srgbClr val="0000FF"/>
                </a:solidFill>
                <a:latin typeface="Times New Roman" charset="0"/>
              </a:rPr>
              <a:t>Timer is decremented every clock tick.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sz="1800" noProof="1">
                <a:solidFill>
                  <a:srgbClr val="0000FF"/>
                </a:solidFill>
                <a:latin typeface="Times New Roman" charset="0"/>
              </a:rPr>
              <a:t>When timer reaches value 0, an interrupt occurs.</a:t>
            </a:r>
          </a:p>
          <a:p>
            <a:pPr algn="just" eaLnBrk="1" hangingPunct="1">
              <a:lnSpc>
                <a:spcPct val="90000"/>
              </a:lnSpc>
              <a:defRPr/>
            </a:pPr>
            <a:r>
              <a:rPr sz="2000" noProof="1">
                <a:solidFill>
                  <a:srgbClr val="0000FF"/>
                </a:solidFill>
                <a:latin typeface="Times New Roman" charset="0"/>
              </a:rPr>
              <a:t>Timer is commonly used to implement time sharing.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sz="1800" noProof="1">
                <a:solidFill>
                  <a:srgbClr val="0000FF"/>
                </a:solidFill>
                <a:latin typeface="Times New Roman" charset="0"/>
              </a:rPr>
              <a:t>Timer is also used to compute the current time.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sz="1800" noProof="1">
                <a:solidFill>
                  <a:srgbClr val="0000FF"/>
                </a:solidFill>
                <a:latin typeface="Times New Roman" charset="0"/>
              </a:rPr>
              <a:t>Loading timer value is a privileged instruction. Why?</a:t>
            </a:r>
            <a:endParaRPr lang="en-US" sz="1800" dirty="0">
              <a:solidFill>
                <a:srgbClr val="0000FF"/>
              </a:solidFill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757359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3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2273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3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" dur="500"/>
                                        <p:tgtEl>
                                          <p:spTgt spid="2273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3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3" dur="500"/>
                                        <p:tgtEl>
                                          <p:spTgt spid="2273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3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8" dur="500"/>
                                        <p:tgtEl>
                                          <p:spTgt spid="2273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33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1" dur="500"/>
                                        <p:tgtEl>
                                          <p:spTgt spid="22733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33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4" dur="500"/>
                                        <p:tgtEl>
                                          <p:spTgt spid="22733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7331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5F29022-F19B-D34D-9E19-F4CD1C234E88}" type="slidenum">
              <a:rPr lang="en-AU"/>
              <a:pPr>
                <a:defRPr/>
              </a:pPr>
              <a:t>20</a:t>
            </a:fld>
            <a:endParaRPr lang="en-AU"/>
          </a:p>
        </p:txBody>
      </p:sp>
      <p:sp>
        <p:nvSpPr>
          <p:cNvPr id="232450" name="Rectangle 2"/>
          <p:cNvSpPr>
            <a:spLocks noGrp="1" noChangeArrowheads="1"/>
          </p:cNvSpPr>
          <p:nvPr>
            <p:ph type="title"/>
          </p:nvPr>
        </p:nvSpPr>
        <p:spPr>
          <a:xfrm>
            <a:off x="1775520" y="116633"/>
            <a:ext cx="8610600" cy="519113"/>
          </a:xfrm>
          <a:extLst>
            <a:ext uri="{91240B29-F687-4f45-9708-019B960494DF}">
              <a14:hiddenLine xmlns:a14="http://schemas.microsoft.com/office/drawing/2010/main" xmlns="" w="9525" cap="flat" cmpd="sng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defRPr/>
            </a:pPr>
            <a:r>
              <a:rPr lang="en-AU" sz="2800" b="1" noProof="1">
                <a:solidFill>
                  <a:srgbClr val="007000"/>
                </a:solidFill>
                <a:latin typeface="Times New Roman" charset="0"/>
              </a:rPr>
              <a:t>System Calls</a:t>
            </a:r>
            <a:endParaRPr lang="en-US" sz="2800" b="1" dirty="0">
              <a:solidFill>
                <a:srgbClr val="007000"/>
              </a:solidFill>
              <a:latin typeface="Times New Roman" charset="0"/>
            </a:endParaRPr>
          </a:p>
        </p:txBody>
      </p:sp>
      <p:sp>
        <p:nvSpPr>
          <p:cNvPr id="2324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631504" y="620688"/>
            <a:ext cx="8754616" cy="2880320"/>
          </a:xfrm>
        </p:spPr>
        <p:txBody>
          <a:bodyPr/>
          <a:lstStyle/>
          <a:p>
            <a:pPr eaLnBrk="1" hangingPunct="1">
              <a:lnSpc>
                <a:spcPct val="90000"/>
              </a:lnSpc>
              <a:defRPr/>
            </a:pPr>
            <a:r>
              <a:rPr lang="en-AU" sz="2400" noProof="1">
                <a:solidFill>
                  <a:srgbClr val="0000FF"/>
                </a:solidFill>
                <a:latin typeface="Times New Roman" charset="0"/>
              </a:rPr>
              <a:t>A system call is a user interface to the OS services</a:t>
            </a:r>
            <a:endParaRPr sz="2400" b="1" u="sng" noProof="1">
              <a:solidFill>
                <a:srgbClr val="0000FF"/>
              </a:solidFill>
              <a:latin typeface="Times New Roman" charset="0"/>
            </a:endParaRPr>
          </a:p>
          <a:p>
            <a:pPr lvl="1" eaLnBrk="1" hangingPunct="1">
              <a:lnSpc>
                <a:spcPct val="90000"/>
              </a:lnSpc>
              <a:defRPr/>
            </a:pPr>
            <a:r>
              <a:rPr sz="2000" noProof="1">
                <a:solidFill>
                  <a:srgbClr val="0000FF"/>
                </a:solidFill>
                <a:latin typeface="Times New Roman" charset="0"/>
              </a:rPr>
              <a:t>Available in assembly-language instructions or in high level languages for systems programming (e.g., C)</a:t>
            </a:r>
            <a:endParaRPr lang="en-AU" sz="2000" noProof="1">
              <a:solidFill>
                <a:srgbClr val="0000FF"/>
              </a:solidFill>
              <a:latin typeface="Times New Roman" charset="0"/>
            </a:endParaRPr>
          </a:p>
          <a:p>
            <a:pPr marL="982663" lvl="2" indent="-263525">
              <a:defRPr/>
            </a:pPr>
            <a:r>
              <a:rPr lang="en-AU" sz="1600" noProof="1">
                <a:solidFill>
                  <a:srgbClr val="0000FF"/>
                </a:solidFill>
                <a:latin typeface="Times New Roman" charset="0"/>
              </a:rPr>
              <a:t>E.g., fork () is a system call to ask OS to create a new process</a:t>
            </a:r>
            <a:endParaRPr lang="en-AU" dirty="0">
              <a:solidFill>
                <a:srgbClr val="0000FF"/>
              </a:solidFill>
              <a:latin typeface="Times New Roman" charset="0"/>
            </a:endParaRPr>
          </a:p>
          <a:p>
            <a:pPr lvl="1" eaLnBrk="1" hangingPunct="1">
              <a:lnSpc>
                <a:spcPct val="90000"/>
              </a:lnSpc>
              <a:defRPr/>
            </a:pPr>
            <a:r>
              <a:rPr lang="en-AU" sz="2000" dirty="0">
                <a:solidFill>
                  <a:srgbClr val="0000FF"/>
                </a:solidFill>
                <a:latin typeface="Times New Roman" charset="0"/>
              </a:rPr>
              <a:t>Application Program Interface (API): a set of functions available to an application programmer.</a:t>
            </a:r>
          </a:p>
          <a:p>
            <a:pPr lvl="2" eaLnBrk="1" hangingPunct="1">
              <a:lnSpc>
                <a:spcPct val="90000"/>
              </a:lnSpc>
              <a:defRPr/>
            </a:pPr>
            <a:r>
              <a:rPr lang="en-AU" sz="1600" dirty="0">
                <a:solidFill>
                  <a:srgbClr val="0000FF"/>
                </a:solidFill>
                <a:latin typeface="Times New Roman" charset="0"/>
              </a:rPr>
              <a:t>An API typically invokes the actual system calls for the application programmers.</a:t>
            </a:r>
          </a:p>
          <a:p>
            <a:pPr lvl="2" eaLnBrk="1" hangingPunct="1">
              <a:lnSpc>
                <a:spcPct val="90000"/>
              </a:lnSpc>
              <a:defRPr/>
            </a:pPr>
            <a:r>
              <a:rPr lang="en-AU" sz="1600" dirty="0">
                <a:solidFill>
                  <a:srgbClr val="0000FF"/>
                </a:solidFill>
                <a:latin typeface="Times New Roman" charset="0"/>
              </a:rPr>
              <a:t>Examples of API: Windows API, POSIX API, Java API</a:t>
            </a:r>
          </a:p>
          <a:p>
            <a:pPr lvl="2" eaLnBrk="1" hangingPunct="1">
              <a:lnSpc>
                <a:spcPct val="90000"/>
              </a:lnSpc>
              <a:defRPr/>
            </a:pPr>
            <a:r>
              <a:rPr lang="en-AU" sz="1600" dirty="0">
                <a:solidFill>
                  <a:srgbClr val="0000FF"/>
                </a:solidFill>
                <a:latin typeface="Times New Roman" charset="0"/>
              </a:rPr>
              <a:t>API is more portable and simpler to use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67608" y="4653136"/>
            <a:ext cx="207130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solidFill>
                  <a:srgbClr val="0000FF"/>
                </a:solidFill>
              </a:rPr>
              <a:t>Figure 2.5 (Textbook)</a:t>
            </a:r>
          </a:p>
        </p:txBody>
      </p:sp>
      <p:pic>
        <p:nvPicPr>
          <p:cNvPr id="7" name="Picture 6" descr="2_05.pdf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31904" y="3356992"/>
            <a:ext cx="5040560" cy="3355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895751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5F29022-F19B-D34D-9E19-F4CD1C234E88}" type="slidenum">
              <a:rPr lang="en-AU"/>
              <a:pPr>
                <a:defRPr/>
              </a:pPr>
              <a:t>21</a:t>
            </a:fld>
            <a:endParaRPr lang="en-AU"/>
          </a:p>
        </p:txBody>
      </p:sp>
      <p:sp>
        <p:nvSpPr>
          <p:cNvPr id="232450" name="Rectangle 2"/>
          <p:cNvSpPr>
            <a:spLocks noGrp="1" noChangeArrowheads="1"/>
          </p:cNvSpPr>
          <p:nvPr>
            <p:ph type="title"/>
          </p:nvPr>
        </p:nvSpPr>
        <p:spPr>
          <a:xfrm>
            <a:off x="1752600" y="152401"/>
            <a:ext cx="8610600" cy="519113"/>
          </a:xfrm>
          <a:extLst>
            <a:ext uri="{91240B29-F687-4f45-9708-019B960494DF}">
              <a14:hiddenLine xmlns:a14="http://schemas.microsoft.com/office/drawing/2010/main" xmlns="" w="9525" cap="flat" cmpd="sng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defRPr/>
            </a:pPr>
            <a:r>
              <a:rPr lang="en-AU" sz="2800" b="1" noProof="1">
                <a:solidFill>
                  <a:srgbClr val="007000"/>
                </a:solidFill>
                <a:latin typeface="Times New Roman" charset="0"/>
              </a:rPr>
              <a:t>System Calls (cont. )</a:t>
            </a:r>
            <a:endParaRPr lang="en-US" sz="2800" b="1" dirty="0">
              <a:solidFill>
                <a:srgbClr val="007000"/>
              </a:solidFill>
              <a:latin typeface="Times New Roman" charset="0"/>
            </a:endParaRPr>
          </a:p>
        </p:txBody>
      </p:sp>
      <p:sp>
        <p:nvSpPr>
          <p:cNvPr id="6" name="Rectangle 3"/>
          <p:cNvSpPr>
            <a:spLocks noGrp="1" noChangeArrowheads="1"/>
          </p:cNvSpPr>
          <p:nvPr>
            <p:ph idx="1"/>
          </p:nvPr>
        </p:nvSpPr>
        <p:spPr>
          <a:xfrm>
            <a:off x="1775520" y="692696"/>
            <a:ext cx="8610600" cy="3024336"/>
          </a:xfrm>
        </p:spPr>
        <p:txBody>
          <a:bodyPr/>
          <a:lstStyle/>
          <a:p>
            <a:pPr>
              <a:spcBef>
                <a:spcPts val="0"/>
              </a:spcBef>
              <a:spcAft>
                <a:spcPts val="600"/>
              </a:spcAft>
              <a:defRPr/>
            </a:pPr>
            <a:r>
              <a:rPr lang="en-US" sz="2000" dirty="0">
                <a:solidFill>
                  <a:srgbClr val="0000FF"/>
                </a:solidFill>
                <a:latin typeface="Times New Roman" charset="0"/>
              </a:rPr>
              <a:t>A system call is known by its number</a:t>
            </a:r>
          </a:p>
          <a:p>
            <a:pPr lvl="1">
              <a:spcBef>
                <a:spcPts val="0"/>
              </a:spcBef>
              <a:spcAft>
                <a:spcPts val="600"/>
              </a:spcAft>
              <a:defRPr/>
            </a:pPr>
            <a:r>
              <a:rPr lang="en-US" sz="1800" dirty="0">
                <a:solidFill>
                  <a:srgbClr val="0000FF"/>
                </a:solidFill>
                <a:latin typeface="Times New Roman" charset="0"/>
              </a:rPr>
              <a:t>System call interface maintains a vector table which stores pointers to system call routines </a:t>
            </a:r>
          </a:p>
          <a:p>
            <a:pPr marL="982663" lvl="2" indent="-263525">
              <a:spcBef>
                <a:spcPts val="0"/>
              </a:spcBef>
              <a:spcAft>
                <a:spcPts val="600"/>
              </a:spcAft>
              <a:defRPr/>
            </a:pPr>
            <a:r>
              <a:rPr lang="en-US" sz="1600" dirty="0">
                <a:solidFill>
                  <a:srgbClr val="0000FF"/>
                </a:solidFill>
                <a:latin typeface="Times New Roman" charset="0"/>
              </a:rPr>
              <a:t>System call interface intercepts each API and calls all corresponding system calls to handle the API</a:t>
            </a:r>
          </a:p>
          <a:p>
            <a:pPr>
              <a:spcBef>
                <a:spcPts val="0"/>
              </a:spcBef>
              <a:spcAft>
                <a:spcPts val="600"/>
              </a:spcAft>
              <a:defRPr/>
            </a:pPr>
            <a:r>
              <a:rPr lang="en-US" sz="2000" noProof="1">
                <a:solidFill>
                  <a:srgbClr val="0000FF"/>
                </a:solidFill>
                <a:latin typeface="Times New Roman" charset="0"/>
              </a:rPr>
              <a:t>System call result/termination.</a:t>
            </a:r>
          </a:p>
          <a:p>
            <a:pPr lvl="1">
              <a:spcBef>
                <a:spcPts val="0"/>
              </a:spcBef>
              <a:spcAft>
                <a:spcPts val="600"/>
              </a:spcAft>
              <a:defRPr/>
            </a:pPr>
            <a:r>
              <a:rPr lang="en-US" sz="1800" noProof="1">
                <a:solidFill>
                  <a:srgbClr val="0000FF"/>
                </a:solidFill>
                <a:latin typeface="Times New Roman" charset="0"/>
              </a:rPr>
              <a:t>Normal termination (exit or return).</a:t>
            </a:r>
          </a:p>
          <a:p>
            <a:pPr lvl="1">
              <a:spcBef>
                <a:spcPts val="0"/>
              </a:spcBef>
              <a:spcAft>
                <a:spcPts val="600"/>
              </a:spcAft>
              <a:defRPr/>
            </a:pPr>
            <a:r>
              <a:rPr lang="en-US" sz="1800" noProof="1">
                <a:solidFill>
                  <a:srgbClr val="0000FF"/>
                </a:solidFill>
                <a:latin typeface="Times New Roman" charset="0"/>
              </a:rPr>
              <a:t>Terminate current program and return to the command interpreter.</a:t>
            </a:r>
          </a:p>
          <a:p>
            <a:pPr lvl="1">
              <a:spcBef>
                <a:spcPts val="0"/>
              </a:spcBef>
              <a:spcAft>
                <a:spcPts val="600"/>
              </a:spcAft>
              <a:defRPr/>
            </a:pPr>
            <a:r>
              <a:rPr lang="en-US" sz="1800" noProof="1">
                <a:solidFill>
                  <a:srgbClr val="0000FF"/>
                </a:solidFill>
                <a:latin typeface="Times New Roman" charset="0"/>
              </a:rPr>
              <a:t>Abnormal termination (trap) </a:t>
            </a:r>
            <a:r>
              <a:rPr lang="en-US" sz="1800" noProof="1">
                <a:solidFill>
                  <a:srgbClr val="0000FF"/>
                </a:solidFill>
                <a:latin typeface="Times New Roman" charset="0"/>
                <a:sym typeface="Symbol" charset="0"/>
              </a:rPr>
              <a:t></a:t>
            </a:r>
            <a:r>
              <a:rPr lang="en-US" sz="1800" noProof="1">
                <a:solidFill>
                  <a:srgbClr val="0000FF"/>
                </a:solidFill>
                <a:latin typeface="Times New Roman" charset="0"/>
              </a:rPr>
              <a:t> program error.</a:t>
            </a:r>
            <a:endParaRPr lang="en-US" sz="1800" dirty="0">
              <a:solidFill>
                <a:srgbClr val="0000FF"/>
              </a:solidFill>
              <a:latin typeface="Times New Roman" charset="0"/>
            </a:endParaRPr>
          </a:p>
          <a:p>
            <a:pPr marL="0" indent="0">
              <a:spcBef>
                <a:spcPts val="0"/>
              </a:spcBef>
              <a:spcAft>
                <a:spcPts val="600"/>
              </a:spcAft>
              <a:buNone/>
              <a:defRPr/>
            </a:pPr>
            <a:endParaRPr lang="en-US" sz="2400" dirty="0">
              <a:solidFill>
                <a:srgbClr val="0000FF"/>
              </a:solidFill>
              <a:latin typeface="Times New Roman" charset="0"/>
            </a:endParaRPr>
          </a:p>
        </p:txBody>
      </p:sp>
      <p:pic>
        <p:nvPicPr>
          <p:cNvPr id="7" name="Picture 6" descr="2_06.pdf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5560" y="4005064"/>
            <a:ext cx="3960440" cy="242218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240017" y="4149080"/>
            <a:ext cx="4143183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  <a:defRPr/>
            </a:pPr>
            <a:r>
              <a:rPr lang="en-US" sz="2000" dirty="0">
                <a:solidFill>
                  <a:srgbClr val="0000FF"/>
                </a:solidFill>
              </a:rPr>
              <a:t>How to pass parameters to OS?</a:t>
            </a:r>
          </a:p>
          <a:p>
            <a:pPr marL="271463" lvl="1" indent="-271463">
              <a:spcAft>
                <a:spcPts val="600"/>
              </a:spcAft>
              <a:buFont typeface="Arial"/>
              <a:buChar char="•"/>
              <a:defRPr/>
            </a:pPr>
            <a:r>
              <a:rPr lang="en-US" dirty="0">
                <a:solidFill>
                  <a:srgbClr val="0000FF"/>
                </a:solidFill>
              </a:rPr>
              <a:t>In registers</a:t>
            </a:r>
          </a:p>
          <a:p>
            <a:pPr marL="271463" lvl="1" indent="-271463">
              <a:spcAft>
                <a:spcPts val="600"/>
              </a:spcAft>
              <a:buFont typeface="Arial"/>
              <a:buChar char="•"/>
              <a:defRPr/>
            </a:pPr>
            <a:r>
              <a:rPr lang="en-US" dirty="0">
                <a:solidFill>
                  <a:srgbClr val="0000FF"/>
                </a:solidFill>
              </a:rPr>
              <a:t>In a block of memory or table – for many parameters</a:t>
            </a:r>
          </a:p>
          <a:p>
            <a:pPr marL="271463" lvl="1" indent="-271463">
              <a:spcAft>
                <a:spcPts val="600"/>
              </a:spcAft>
              <a:buFont typeface="Arial"/>
              <a:buChar char="•"/>
              <a:defRPr/>
            </a:pPr>
            <a:r>
              <a:rPr lang="en-US" dirty="0">
                <a:solidFill>
                  <a:srgbClr val="0000FF"/>
                </a:solidFill>
              </a:rPr>
              <a:t>In a stack</a:t>
            </a:r>
          </a:p>
          <a:p>
            <a:pPr>
              <a:spcAft>
                <a:spcPts val="600"/>
              </a:spcAft>
            </a:pPr>
            <a:endParaRPr lang="en-US" sz="2000" dirty="0"/>
          </a:p>
        </p:txBody>
      </p:sp>
      <p:sp>
        <p:nvSpPr>
          <p:cNvPr id="2" name="Rectangle 1"/>
          <p:cNvSpPr/>
          <p:nvPr/>
        </p:nvSpPr>
        <p:spPr>
          <a:xfrm>
            <a:off x="6023992" y="6021288"/>
            <a:ext cx="2071300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b="1" dirty="0">
                <a:solidFill>
                  <a:srgbClr val="0000FF"/>
                </a:solidFill>
              </a:rPr>
              <a:t>Figure 2.6 (Textbook)</a:t>
            </a:r>
          </a:p>
        </p:txBody>
      </p:sp>
    </p:spTree>
    <p:extLst>
      <p:ext uri="{BB962C8B-B14F-4D97-AF65-F5344CB8AC3E}">
        <p14:creationId xmlns:p14="http://schemas.microsoft.com/office/powerpoint/2010/main" val="37831377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5F29022-F19B-D34D-9E19-F4CD1C234E88}" type="slidenum">
              <a:rPr lang="en-AU"/>
              <a:pPr>
                <a:defRPr/>
              </a:pPr>
              <a:t>22</a:t>
            </a:fld>
            <a:endParaRPr lang="en-AU"/>
          </a:p>
        </p:txBody>
      </p:sp>
      <p:sp>
        <p:nvSpPr>
          <p:cNvPr id="232450" name="Rectangle 2"/>
          <p:cNvSpPr>
            <a:spLocks noGrp="1" noChangeArrowheads="1"/>
          </p:cNvSpPr>
          <p:nvPr>
            <p:ph type="title"/>
          </p:nvPr>
        </p:nvSpPr>
        <p:spPr>
          <a:xfrm>
            <a:off x="1752600" y="152401"/>
            <a:ext cx="8610600" cy="519113"/>
          </a:xfrm>
          <a:extLst>
            <a:ext uri="{91240B29-F687-4f45-9708-019B960494DF}">
              <a14:hiddenLine xmlns:a14="http://schemas.microsoft.com/office/drawing/2010/main" xmlns="" w="9525" cap="flat" cmpd="sng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defRPr/>
            </a:pPr>
            <a:r>
              <a:rPr lang="en-AU" sz="2800" b="1" noProof="1">
                <a:solidFill>
                  <a:srgbClr val="007000"/>
                </a:solidFill>
                <a:latin typeface="Times New Roman" charset="0"/>
              </a:rPr>
              <a:t>System Calls (cont. )</a:t>
            </a:r>
            <a:endParaRPr lang="en-US" sz="2800" b="1" dirty="0">
              <a:solidFill>
                <a:srgbClr val="007000"/>
              </a:solidFill>
              <a:latin typeface="Times New Roman" charset="0"/>
            </a:endParaRPr>
          </a:p>
        </p:txBody>
      </p:sp>
      <p:sp>
        <p:nvSpPr>
          <p:cNvPr id="6" name="Rectangle 3"/>
          <p:cNvSpPr>
            <a:spLocks noGrp="1" noChangeArrowheads="1"/>
          </p:cNvSpPr>
          <p:nvPr>
            <p:ph idx="1"/>
          </p:nvPr>
        </p:nvSpPr>
        <p:spPr>
          <a:xfrm>
            <a:off x="1775520" y="692696"/>
            <a:ext cx="8610600" cy="5400600"/>
          </a:xfrm>
        </p:spPr>
        <p:txBody>
          <a:bodyPr>
            <a:normAutofit lnSpcReduction="10000"/>
          </a:bodyPr>
          <a:lstStyle/>
          <a:p>
            <a:pPr eaLnBrk="1" hangingPunct="1">
              <a:lnSpc>
                <a:spcPct val="80000"/>
              </a:lnSpc>
              <a:buFont typeface="Wingdings" charset="0"/>
              <a:buNone/>
              <a:defRPr/>
            </a:pPr>
            <a:r>
              <a:rPr lang="en-AU" sz="1800" b="1" u="sng" noProof="1">
                <a:solidFill>
                  <a:srgbClr val="0000FF"/>
                </a:solidFill>
                <a:latin typeface="Times New Roman" charset="0"/>
              </a:rPr>
              <a:t>Types of system calls</a:t>
            </a:r>
          </a:p>
          <a:p>
            <a:pPr eaLnBrk="1" hangingPunct="1">
              <a:lnSpc>
                <a:spcPct val="80000"/>
              </a:lnSpc>
              <a:buFont typeface="Wingdings" charset="0"/>
              <a:buNone/>
              <a:defRPr/>
            </a:pPr>
            <a:r>
              <a:rPr sz="1800" noProof="1">
                <a:solidFill>
                  <a:srgbClr val="0000FF"/>
                </a:solidFill>
                <a:latin typeface="Times New Roman" charset="0"/>
              </a:rPr>
              <a:t>1) Process control</a:t>
            </a:r>
          </a:p>
          <a:p>
            <a:pPr lvl="1" eaLnBrk="1" hangingPunct="1">
              <a:lnSpc>
                <a:spcPct val="80000"/>
              </a:lnSpc>
              <a:defRPr/>
            </a:pPr>
            <a:r>
              <a:rPr sz="1800" noProof="1">
                <a:solidFill>
                  <a:srgbClr val="0000FF"/>
                </a:solidFill>
                <a:latin typeface="Times New Roman" charset="0"/>
              </a:rPr>
              <a:t>End, abort (running program)</a:t>
            </a:r>
            <a:r>
              <a:rPr lang="en-AU" sz="1800" dirty="0">
                <a:solidFill>
                  <a:srgbClr val="0000FF"/>
                </a:solidFill>
                <a:latin typeface="Times New Roman" charset="0"/>
              </a:rPr>
              <a:t>; </a:t>
            </a:r>
            <a:r>
              <a:rPr sz="1800" noProof="1">
                <a:solidFill>
                  <a:srgbClr val="0000FF"/>
                </a:solidFill>
                <a:latin typeface="Times New Roman" charset="0"/>
              </a:rPr>
              <a:t>Load, execute</a:t>
            </a:r>
            <a:r>
              <a:rPr lang="en-AU" sz="1800" dirty="0">
                <a:solidFill>
                  <a:srgbClr val="0000FF"/>
                </a:solidFill>
                <a:latin typeface="Times New Roman" charset="0"/>
              </a:rPr>
              <a:t>; </a:t>
            </a:r>
            <a:r>
              <a:rPr sz="1800" noProof="1">
                <a:solidFill>
                  <a:srgbClr val="0000FF"/>
                </a:solidFill>
                <a:latin typeface="Times New Roman" charset="0"/>
              </a:rPr>
              <a:t>Create, terminate</a:t>
            </a:r>
            <a:r>
              <a:rPr lang="en-AU" sz="1800" dirty="0">
                <a:solidFill>
                  <a:srgbClr val="0000FF"/>
                </a:solidFill>
                <a:latin typeface="Times New Roman" charset="0"/>
              </a:rPr>
              <a:t>; </a:t>
            </a:r>
            <a:r>
              <a:rPr sz="1800" noProof="1">
                <a:solidFill>
                  <a:srgbClr val="0000FF"/>
                </a:solidFill>
                <a:latin typeface="Times New Roman" charset="0"/>
              </a:rPr>
              <a:t>Signal event, etc.</a:t>
            </a:r>
            <a:endParaRPr lang="en-AU" sz="1800" dirty="0">
              <a:solidFill>
                <a:srgbClr val="0000FF"/>
              </a:solidFill>
              <a:latin typeface="Times New Roman" charset="0"/>
            </a:endParaRPr>
          </a:p>
          <a:p>
            <a:pPr lvl="1" eaLnBrk="1" hangingPunct="1">
              <a:lnSpc>
                <a:spcPct val="80000"/>
              </a:lnSpc>
              <a:defRPr/>
            </a:pPr>
            <a:r>
              <a:rPr lang="en-US" sz="1800" dirty="0">
                <a:solidFill>
                  <a:srgbClr val="0000FF"/>
                </a:solidFill>
                <a:latin typeface="Times New Roman" charset="0"/>
              </a:rPr>
              <a:t>Examples: fork(), exit(), wait(), etc.</a:t>
            </a:r>
          </a:p>
          <a:p>
            <a:pPr eaLnBrk="1" hangingPunct="1">
              <a:lnSpc>
                <a:spcPct val="80000"/>
              </a:lnSpc>
              <a:buFont typeface="Wingdings" charset="0"/>
              <a:buNone/>
              <a:defRPr/>
            </a:pPr>
            <a:r>
              <a:rPr sz="1800" noProof="1">
                <a:solidFill>
                  <a:srgbClr val="0000FF"/>
                </a:solidFill>
                <a:latin typeface="Times New Roman" charset="0"/>
              </a:rPr>
              <a:t>2) File ma</a:t>
            </a:r>
            <a:r>
              <a:rPr lang="en-AU" sz="1800" noProof="1">
                <a:solidFill>
                  <a:srgbClr val="0000FF"/>
                </a:solidFill>
                <a:latin typeface="Times New Roman" charset="0"/>
              </a:rPr>
              <a:t>nagement</a:t>
            </a:r>
            <a:endParaRPr sz="1800" noProof="1">
              <a:solidFill>
                <a:srgbClr val="0000FF"/>
              </a:solidFill>
              <a:latin typeface="Times New Roman" charset="0"/>
            </a:endParaRPr>
          </a:p>
          <a:p>
            <a:pPr lvl="1" eaLnBrk="1" hangingPunct="1">
              <a:lnSpc>
                <a:spcPct val="80000"/>
              </a:lnSpc>
              <a:defRPr/>
            </a:pPr>
            <a:r>
              <a:rPr sz="1800" noProof="1">
                <a:solidFill>
                  <a:srgbClr val="0000FF"/>
                </a:solidFill>
                <a:latin typeface="Times New Roman" charset="0"/>
              </a:rPr>
              <a:t>Create, delete</a:t>
            </a:r>
            <a:r>
              <a:rPr lang="en-AU" sz="1800" dirty="0">
                <a:solidFill>
                  <a:srgbClr val="0000FF"/>
                </a:solidFill>
                <a:latin typeface="Times New Roman" charset="0"/>
              </a:rPr>
              <a:t>; </a:t>
            </a:r>
            <a:r>
              <a:rPr sz="1800" noProof="1">
                <a:solidFill>
                  <a:srgbClr val="0000FF"/>
                </a:solidFill>
                <a:latin typeface="Times New Roman" charset="0"/>
              </a:rPr>
              <a:t>Open, close</a:t>
            </a:r>
            <a:r>
              <a:rPr lang="en-AU" sz="1800" dirty="0">
                <a:solidFill>
                  <a:srgbClr val="0000FF"/>
                </a:solidFill>
                <a:latin typeface="Times New Roman" charset="0"/>
              </a:rPr>
              <a:t>; </a:t>
            </a:r>
            <a:r>
              <a:rPr sz="1800" noProof="1">
                <a:solidFill>
                  <a:srgbClr val="0000FF"/>
                </a:solidFill>
                <a:latin typeface="Times New Roman" charset="0"/>
              </a:rPr>
              <a:t>Read, write, reposition</a:t>
            </a:r>
            <a:r>
              <a:rPr lang="en-AU" sz="1800" dirty="0">
                <a:solidFill>
                  <a:srgbClr val="0000FF"/>
                </a:solidFill>
                <a:latin typeface="Times New Roman" charset="0"/>
              </a:rPr>
              <a:t>; </a:t>
            </a:r>
            <a:r>
              <a:rPr sz="1800" noProof="1">
                <a:solidFill>
                  <a:srgbClr val="0000FF"/>
                </a:solidFill>
                <a:latin typeface="Times New Roman" charset="0"/>
              </a:rPr>
              <a:t>Get and set file attributes</a:t>
            </a:r>
            <a:r>
              <a:rPr lang="en-AU" sz="1800" dirty="0">
                <a:solidFill>
                  <a:srgbClr val="0000FF"/>
                </a:solidFill>
                <a:latin typeface="Times New Roman" charset="0"/>
              </a:rPr>
              <a:t>, etc.</a:t>
            </a:r>
          </a:p>
          <a:p>
            <a:pPr lvl="1" eaLnBrk="1" hangingPunct="1">
              <a:lnSpc>
                <a:spcPct val="80000"/>
              </a:lnSpc>
              <a:defRPr/>
            </a:pPr>
            <a:r>
              <a:rPr lang="en-AU" sz="1800" dirty="0">
                <a:solidFill>
                  <a:srgbClr val="0000FF"/>
                </a:solidFill>
                <a:latin typeface="Times New Roman" charset="0"/>
              </a:rPr>
              <a:t>Examples: open(), read(), write(), close(), etc.</a:t>
            </a:r>
            <a:endParaRPr sz="1800" noProof="1">
              <a:solidFill>
                <a:srgbClr val="0000FF"/>
              </a:solidFill>
              <a:latin typeface="Times New Roman" charset="0"/>
            </a:endParaRPr>
          </a:p>
          <a:p>
            <a:pPr eaLnBrk="1" hangingPunct="1">
              <a:lnSpc>
                <a:spcPct val="80000"/>
              </a:lnSpc>
              <a:buNone/>
              <a:defRPr/>
            </a:pPr>
            <a:r>
              <a:rPr sz="1800" noProof="1">
                <a:solidFill>
                  <a:srgbClr val="0000FF"/>
                </a:solidFill>
                <a:latin typeface="Times New Roman" charset="0"/>
              </a:rPr>
              <a:t>3) Device </a:t>
            </a:r>
            <a:r>
              <a:rPr lang="en-US" sz="1800" noProof="1">
                <a:solidFill>
                  <a:srgbClr val="0000FF"/>
                </a:solidFill>
                <a:latin typeface="Times New Roman" charset="0"/>
              </a:rPr>
              <a:t>management </a:t>
            </a:r>
            <a:r>
              <a:rPr sz="1800" noProof="1">
                <a:solidFill>
                  <a:srgbClr val="0000FF"/>
                </a:solidFill>
                <a:latin typeface="Times New Roman" charset="0"/>
              </a:rPr>
              <a:t>(memory, tape drives etc.)</a:t>
            </a:r>
          </a:p>
          <a:p>
            <a:pPr lvl="1" eaLnBrk="1" hangingPunct="1">
              <a:lnSpc>
                <a:spcPct val="80000"/>
              </a:lnSpc>
              <a:defRPr/>
            </a:pPr>
            <a:r>
              <a:rPr sz="1800" noProof="1">
                <a:solidFill>
                  <a:srgbClr val="0000FF"/>
                </a:solidFill>
                <a:latin typeface="Times New Roman" charset="0"/>
              </a:rPr>
              <a:t>Request device; Release device</a:t>
            </a:r>
            <a:r>
              <a:rPr lang="en-AU" sz="1800" dirty="0">
                <a:solidFill>
                  <a:srgbClr val="0000FF"/>
                </a:solidFill>
                <a:latin typeface="Times New Roman" charset="0"/>
              </a:rPr>
              <a:t>; </a:t>
            </a:r>
            <a:r>
              <a:rPr sz="1800" noProof="1">
                <a:solidFill>
                  <a:srgbClr val="0000FF"/>
                </a:solidFill>
                <a:latin typeface="Times New Roman" charset="0"/>
              </a:rPr>
              <a:t>Read, write, reposition</a:t>
            </a:r>
            <a:r>
              <a:rPr lang="en-AU" sz="1800" dirty="0">
                <a:solidFill>
                  <a:srgbClr val="0000FF"/>
                </a:solidFill>
                <a:latin typeface="Times New Roman" charset="0"/>
              </a:rPr>
              <a:t>, etc.</a:t>
            </a:r>
          </a:p>
          <a:p>
            <a:pPr lvl="1" eaLnBrk="1" hangingPunct="1">
              <a:lnSpc>
                <a:spcPct val="80000"/>
              </a:lnSpc>
              <a:defRPr/>
            </a:pPr>
            <a:r>
              <a:rPr lang="en-AU" sz="1800" dirty="0">
                <a:solidFill>
                  <a:srgbClr val="0000FF"/>
                </a:solidFill>
                <a:latin typeface="Times New Roman" charset="0"/>
              </a:rPr>
              <a:t>Examples: </a:t>
            </a:r>
            <a:r>
              <a:rPr sz="1800" noProof="1">
                <a:solidFill>
                  <a:srgbClr val="0000FF"/>
                </a:solidFill>
                <a:latin typeface="Times New Roman" charset="0"/>
              </a:rPr>
              <a:t>ioctl</a:t>
            </a:r>
            <a:r>
              <a:rPr lang="en-AU" sz="1800" dirty="0">
                <a:solidFill>
                  <a:srgbClr val="0000FF"/>
                </a:solidFill>
                <a:latin typeface="Times New Roman" charset="0"/>
              </a:rPr>
              <a:t>(), read(), write(), etc.</a:t>
            </a:r>
            <a:endParaRPr sz="1800" noProof="1">
              <a:solidFill>
                <a:srgbClr val="0000FF"/>
              </a:solidFill>
              <a:latin typeface="Times New Roman" charset="0"/>
            </a:endParaRPr>
          </a:p>
          <a:p>
            <a:pPr eaLnBrk="1" hangingPunct="1">
              <a:lnSpc>
                <a:spcPct val="80000"/>
              </a:lnSpc>
              <a:buFont typeface="Wingdings" charset="0"/>
              <a:buNone/>
              <a:defRPr/>
            </a:pPr>
            <a:r>
              <a:rPr sz="1800" noProof="1">
                <a:solidFill>
                  <a:srgbClr val="0000FF"/>
                </a:solidFill>
                <a:latin typeface="Times New Roman" charset="0"/>
              </a:rPr>
              <a:t>4) Information maintenance</a:t>
            </a:r>
          </a:p>
          <a:p>
            <a:pPr lvl="1" eaLnBrk="1" hangingPunct="1">
              <a:lnSpc>
                <a:spcPct val="80000"/>
              </a:lnSpc>
              <a:defRPr/>
            </a:pPr>
            <a:r>
              <a:rPr sz="1800" noProof="1">
                <a:solidFill>
                  <a:srgbClr val="0000FF"/>
                </a:solidFill>
                <a:latin typeface="Times New Roman" charset="0"/>
              </a:rPr>
              <a:t>Get or set time or date</a:t>
            </a:r>
            <a:r>
              <a:rPr lang="en-AU" sz="1800" dirty="0">
                <a:solidFill>
                  <a:srgbClr val="0000FF"/>
                </a:solidFill>
                <a:latin typeface="Times New Roman" charset="0"/>
              </a:rPr>
              <a:t>; </a:t>
            </a:r>
            <a:r>
              <a:rPr sz="1800" noProof="1">
                <a:solidFill>
                  <a:srgbClr val="0000FF"/>
                </a:solidFill>
                <a:latin typeface="Times New Roman" charset="0"/>
              </a:rPr>
              <a:t>Get or set process attributes</a:t>
            </a:r>
            <a:r>
              <a:rPr lang="en-AU" sz="1800" dirty="0">
                <a:solidFill>
                  <a:srgbClr val="0000FF"/>
                </a:solidFill>
                <a:latin typeface="Times New Roman" charset="0"/>
              </a:rPr>
              <a:t>, etc.</a:t>
            </a:r>
          </a:p>
          <a:p>
            <a:pPr lvl="1" eaLnBrk="1" hangingPunct="1">
              <a:lnSpc>
                <a:spcPct val="80000"/>
              </a:lnSpc>
              <a:defRPr/>
            </a:pPr>
            <a:r>
              <a:rPr lang="en-AU" sz="1800" dirty="0">
                <a:solidFill>
                  <a:srgbClr val="0000FF"/>
                </a:solidFill>
                <a:latin typeface="Times New Roman" charset="0"/>
              </a:rPr>
              <a:t>Examples: </a:t>
            </a:r>
            <a:r>
              <a:rPr lang="en-AU" sz="1800" dirty="0" err="1">
                <a:solidFill>
                  <a:srgbClr val="0000FF"/>
                </a:solidFill>
                <a:latin typeface="Times New Roman" charset="0"/>
              </a:rPr>
              <a:t>getpid</a:t>
            </a:r>
            <a:r>
              <a:rPr lang="en-AU" sz="1800" dirty="0">
                <a:solidFill>
                  <a:srgbClr val="0000FF"/>
                </a:solidFill>
                <a:latin typeface="Times New Roman" charset="0"/>
              </a:rPr>
              <a:t>(), alarm(), sleep(), etc.</a:t>
            </a:r>
            <a:endParaRPr sz="1800" noProof="1">
              <a:solidFill>
                <a:srgbClr val="0000FF"/>
              </a:solidFill>
              <a:latin typeface="Times New Roman" charset="0"/>
            </a:endParaRPr>
          </a:p>
          <a:p>
            <a:pPr eaLnBrk="1" hangingPunct="1">
              <a:lnSpc>
                <a:spcPct val="80000"/>
              </a:lnSpc>
              <a:buFont typeface="Wingdings" charset="0"/>
              <a:buNone/>
              <a:defRPr/>
            </a:pPr>
            <a:r>
              <a:rPr sz="1800" noProof="1">
                <a:solidFill>
                  <a:srgbClr val="0000FF"/>
                </a:solidFill>
                <a:latin typeface="Times New Roman" charset="0"/>
              </a:rPr>
              <a:t>5) Communications</a:t>
            </a:r>
          </a:p>
          <a:p>
            <a:pPr lvl="1" eaLnBrk="1" hangingPunct="1">
              <a:lnSpc>
                <a:spcPct val="80000"/>
              </a:lnSpc>
              <a:defRPr/>
            </a:pPr>
            <a:r>
              <a:rPr sz="1800" noProof="1">
                <a:solidFill>
                  <a:srgbClr val="0000FF"/>
                </a:solidFill>
                <a:latin typeface="Times New Roman" charset="0"/>
              </a:rPr>
              <a:t>Create, delete communication connection</a:t>
            </a:r>
            <a:r>
              <a:rPr lang="en-AU" sz="1800" dirty="0">
                <a:solidFill>
                  <a:srgbClr val="0000FF"/>
                </a:solidFill>
                <a:latin typeface="Times New Roman" charset="0"/>
              </a:rPr>
              <a:t>; </a:t>
            </a:r>
            <a:r>
              <a:rPr sz="1800" noProof="1">
                <a:solidFill>
                  <a:srgbClr val="0000FF"/>
                </a:solidFill>
                <a:latin typeface="Times New Roman" charset="0"/>
              </a:rPr>
              <a:t>Send and receive messages, etc.</a:t>
            </a:r>
            <a:endParaRPr lang="en-AU" sz="1800" dirty="0">
              <a:solidFill>
                <a:srgbClr val="0000FF"/>
              </a:solidFill>
              <a:latin typeface="Times New Roman" charset="0"/>
            </a:endParaRPr>
          </a:p>
          <a:p>
            <a:pPr lvl="1" eaLnBrk="1" hangingPunct="1">
              <a:lnSpc>
                <a:spcPct val="80000"/>
              </a:lnSpc>
              <a:defRPr/>
            </a:pPr>
            <a:r>
              <a:rPr lang="en-US" sz="1800" dirty="0">
                <a:solidFill>
                  <a:srgbClr val="0000FF"/>
                </a:solidFill>
                <a:latin typeface="Times New Roman" charset="0"/>
              </a:rPr>
              <a:t>Examples: pipe(), </a:t>
            </a:r>
            <a:r>
              <a:rPr lang="en-US" sz="1800" dirty="0" err="1">
                <a:solidFill>
                  <a:srgbClr val="0000FF"/>
                </a:solidFill>
                <a:latin typeface="Times New Roman" charset="0"/>
              </a:rPr>
              <a:t>shmget</a:t>
            </a:r>
            <a:r>
              <a:rPr lang="en-US" sz="1800" dirty="0">
                <a:solidFill>
                  <a:srgbClr val="0000FF"/>
                </a:solidFill>
                <a:latin typeface="Times New Roman" charset="0"/>
              </a:rPr>
              <a:t>(), </a:t>
            </a:r>
            <a:r>
              <a:rPr lang="en-US" sz="1800" dirty="0" err="1">
                <a:solidFill>
                  <a:srgbClr val="0000FF"/>
                </a:solidFill>
                <a:latin typeface="Times New Roman" charset="0"/>
              </a:rPr>
              <a:t>mmap</a:t>
            </a:r>
            <a:r>
              <a:rPr lang="en-US" sz="1800" dirty="0">
                <a:solidFill>
                  <a:srgbClr val="0000FF"/>
                </a:solidFill>
                <a:latin typeface="Times New Roman" charset="0"/>
              </a:rPr>
              <a:t>(), etc.</a:t>
            </a:r>
          </a:p>
          <a:p>
            <a:pPr eaLnBrk="1" hangingPunct="1">
              <a:lnSpc>
                <a:spcPct val="80000"/>
              </a:lnSpc>
              <a:buFont typeface="Wingdings" charset="0"/>
              <a:buNone/>
              <a:defRPr/>
            </a:pPr>
            <a:r>
              <a:rPr lang="en-AU" sz="1800" dirty="0">
                <a:solidFill>
                  <a:srgbClr val="0000FF"/>
                </a:solidFill>
                <a:latin typeface="Times New Roman" charset="0"/>
              </a:rPr>
              <a:t>6</a:t>
            </a:r>
            <a:r>
              <a:rPr sz="1800" noProof="1">
                <a:solidFill>
                  <a:srgbClr val="0000FF"/>
                </a:solidFill>
                <a:latin typeface="Times New Roman" charset="0"/>
              </a:rPr>
              <a:t>) </a:t>
            </a:r>
            <a:r>
              <a:rPr lang="en-AU" sz="1800" dirty="0">
                <a:solidFill>
                  <a:srgbClr val="0000FF"/>
                </a:solidFill>
                <a:latin typeface="Times New Roman" charset="0"/>
              </a:rPr>
              <a:t>Protection</a:t>
            </a:r>
          </a:p>
          <a:p>
            <a:pPr lvl="1" eaLnBrk="1" hangingPunct="1">
              <a:lnSpc>
                <a:spcPct val="80000"/>
              </a:lnSpc>
              <a:defRPr/>
            </a:pPr>
            <a:r>
              <a:rPr lang="en-US" sz="1600" dirty="0">
                <a:solidFill>
                  <a:srgbClr val="0000FF"/>
                </a:solidFill>
                <a:latin typeface="Times New Roman" charset="0"/>
              </a:rPr>
              <a:t>Resource access control</a:t>
            </a:r>
          </a:p>
          <a:p>
            <a:pPr lvl="1" eaLnBrk="1" hangingPunct="1">
              <a:lnSpc>
                <a:spcPct val="80000"/>
              </a:lnSpc>
              <a:defRPr/>
            </a:pPr>
            <a:r>
              <a:rPr lang="en-US" sz="1600" dirty="0">
                <a:solidFill>
                  <a:srgbClr val="0000FF"/>
                </a:solidFill>
                <a:latin typeface="Times New Roman" charset="0"/>
              </a:rPr>
              <a:t>Examples: </a:t>
            </a:r>
            <a:r>
              <a:rPr lang="en-US" sz="1600" dirty="0" err="1">
                <a:solidFill>
                  <a:srgbClr val="0000FF"/>
                </a:solidFill>
                <a:latin typeface="Times New Roman" charset="0"/>
              </a:rPr>
              <a:t>chmod</a:t>
            </a:r>
            <a:r>
              <a:rPr lang="en-US" sz="1600" dirty="0">
                <a:solidFill>
                  <a:srgbClr val="0000FF"/>
                </a:solidFill>
                <a:latin typeface="Times New Roman" charset="0"/>
              </a:rPr>
              <a:t>(), </a:t>
            </a:r>
            <a:r>
              <a:rPr lang="en-US" sz="1600" dirty="0" err="1">
                <a:solidFill>
                  <a:srgbClr val="0000FF"/>
                </a:solidFill>
                <a:latin typeface="Times New Roman" charset="0"/>
              </a:rPr>
              <a:t>umask</a:t>
            </a:r>
            <a:r>
              <a:rPr lang="en-US" sz="1600" dirty="0">
                <a:solidFill>
                  <a:srgbClr val="0000FF"/>
                </a:solidFill>
                <a:latin typeface="Times New Roman" charset="0"/>
              </a:rPr>
              <a:t>(), </a:t>
            </a:r>
            <a:r>
              <a:rPr lang="en-US" sz="1600" dirty="0" err="1">
                <a:solidFill>
                  <a:srgbClr val="0000FF"/>
                </a:solidFill>
                <a:latin typeface="Times New Roman" charset="0"/>
              </a:rPr>
              <a:t>chown</a:t>
            </a:r>
            <a:r>
              <a:rPr lang="en-US" sz="1600" dirty="0">
                <a:solidFill>
                  <a:srgbClr val="0000FF"/>
                </a:solidFill>
                <a:latin typeface="Times New Roman" charset="0"/>
              </a:rPr>
              <a:t>(), etc.</a:t>
            </a:r>
          </a:p>
        </p:txBody>
      </p:sp>
    </p:spTree>
    <p:extLst>
      <p:ext uri="{BB962C8B-B14F-4D97-AF65-F5344CB8AC3E}">
        <p14:creationId xmlns:p14="http://schemas.microsoft.com/office/powerpoint/2010/main" val="17881561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3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8" dur="5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1" dur="500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4" dur="500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9" dur="500"/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2" dur="500"/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5" dur="500"/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0" dur="500"/>
                                        <p:tgtEl>
                                          <p:spTgt spid="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3" dur="500"/>
                                        <p:tgtEl>
                                          <p:spTgt spid="6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6" dur="500"/>
                                        <p:tgtEl>
                                          <p:spTgt spid="6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1" dur="500"/>
                                        <p:tgtEl>
                                          <p:spTgt spid="6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4" dur="500"/>
                                        <p:tgtEl>
                                          <p:spTgt spid="6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7" dur="500"/>
                                        <p:tgtEl>
                                          <p:spTgt spid="6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2CC6443-7A3A-D040-8784-B61747FB112F}" type="slidenum">
              <a:rPr lang="en-AU"/>
              <a:pPr>
                <a:defRPr/>
              </a:pPr>
              <a:t>23</a:t>
            </a:fld>
            <a:endParaRPr lang="en-AU"/>
          </a:p>
        </p:txBody>
      </p:sp>
      <p:sp>
        <p:nvSpPr>
          <p:cNvPr id="235522" name="Rectangle 2"/>
          <p:cNvSpPr>
            <a:spLocks noGrp="1" noChangeArrowheads="1"/>
          </p:cNvSpPr>
          <p:nvPr>
            <p:ph type="title"/>
          </p:nvPr>
        </p:nvSpPr>
        <p:spPr>
          <a:xfrm>
            <a:off x="1752600" y="152401"/>
            <a:ext cx="8610600" cy="519113"/>
          </a:xfrm>
          <a:extLst>
            <a:ext uri="{91240B29-F687-4f45-9708-019B960494DF}">
              <a14:hiddenLine xmlns:a14="http://schemas.microsoft.com/office/drawing/2010/main" xmlns="" w="9525" cap="flat" cmpd="sng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defRPr/>
            </a:pPr>
            <a:r>
              <a:rPr sz="2800" b="1" noProof="1">
                <a:solidFill>
                  <a:srgbClr val="007000"/>
                </a:solidFill>
                <a:latin typeface="Times New Roman" charset="0"/>
              </a:rPr>
              <a:t>System programs</a:t>
            </a:r>
            <a:r>
              <a:rPr lang="en-AU" sz="2800" b="1">
                <a:solidFill>
                  <a:srgbClr val="007000"/>
                </a:solidFill>
                <a:latin typeface="Times New Roman" charset="0"/>
              </a:rPr>
              <a:t> or utilities</a:t>
            </a:r>
            <a:endParaRPr lang="en-US" sz="2800" b="1">
              <a:solidFill>
                <a:srgbClr val="007000"/>
              </a:solidFill>
              <a:latin typeface="Times New Roman" charset="0"/>
            </a:endParaRPr>
          </a:p>
        </p:txBody>
      </p:sp>
      <p:sp>
        <p:nvSpPr>
          <p:cNvPr id="2355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775520" y="838200"/>
            <a:ext cx="8568952" cy="5334000"/>
          </a:xfrm>
        </p:spPr>
        <p:txBody>
          <a:bodyPr/>
          <a:lstStyle/>
          <a:p>
            <a:pPr algn="just" eaLnBrk="1" hangingPunct="1">
              <a:lnSpc>
                <a:spcPct val="90000"/>
              </a:lnSpc>
              <a:defRPr/>
            </a:pPr>
            <a:r>
              <a:rPr sz="2400" noProof="1">
                <a:solidFill>
                  <a:srgbClr val="0000FF"/>
                </a:solidFill>
                <a:latin typeface="Times New Roman" charset="0"/>
              </a:rPr>
              <a:t>Provide a convenient environment for program development and execution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sz="2000" noProof="1">
                <a:solidFill>
                  <a:srgbClr val="0000FF"/>
                </a:solidFill>
                <a:latin typeface="Times New Roman" charset="0"/>
              </a:rPr>
              <a:t>Most users’ view of the OS is defined by system programs, not the actual system calls.</a:t>
            </a:r>
            <a:endParaRPr lang="en-AU" sz="2000" dirty="0">
              <a:solidFill>
                <a:srgbClr val="0000FF"/>
              </a:solidFill>
              <a:latin typeface="Times New Roman" charset="0"/>
            </a:endParaRPr>
          </a:p>
          <a:p>
            <a:pPr lvl="1" eaLnBrk="1" hangingPunct="1">
              <a:lnSpc>
                <a:spcPct val="90000"/>
              </a:lnSpc>
              <a:defRPr/>
            </a:pPr>
            <a:r>
              <a:rPr lang="en-AU" sz="2000" dirty="0">
                <a:solidFill>
                  <a:srgbClr val="0000FF"/>
                </a:solidFill>
                <a:latin typeface="Times New Roman" charset="0"/>
              </a:rPr>
              <a:t>Some of them are simple user interface to system calls.</a:t>
            </a:r>
            <a:endParaRPr sz="2000" noProof="1">
              <a:solidFill>
                <a:srgbClr val="0000FF"/>
              </a:solidFill>
              <a:latin typeface="Times New Roman" charset="0"/>
            </a:endParaRPr>
          </a:p>
          <a:p>
            <a:pPr eaLnBrk="1" hangingPunct="1">
              <a:lnSpc>
                <a:spcPct val="90000"/>
              </a:lnSpc>
              <a:defRPr/>
            </a:pPr>
            <a:r>
              <a:rPr sz="2400" noProof="1">
                <a:solidFill>
                  <a:srgbClr val="0000FF"/>
                </a:solidFill>
                <a:latin typeface="Times New Roman" charset="0"/>
              </a:rPr>
              <a:t>System programs can be divided into:</a:t>
            </a:r>
          </a:p>
          <a:p>
            <a:pPr lvl="1" algn="just" eaLnBrk="1" hangingPunct="1">
              <a:lnSpc>
                <a:spcPct val="90000"/>
              </a:lnSpc>
              <a:defRPr/>
            </a:pPr>
            <a:r>
              <a:rPr sz="1800" noProof="1">
                <a:solidFill>
                  <a:srgbClr val="0000FF"/>
                </a:solidFill>
                <a:latin typeface="Times New Roman" charset="0"/>
              </a:rPr>
              <a:t>File manipulation: Create, delete, copy, rename, print, dump, list.</a:t>
            </a:r>
          </a:p>
          <a:p>
            <a:pPr lvl="1" algn="just" eaLnBrk="1" hangingPunct="1">
              <a:lnSpc>
                <a:spcPct val="90000"/>
              </a:lnSpc>
              <a:defRPr/>
            </a:pPr>
            <a:r>
              <a:rPr sz="1800" noProof="1">
                <a:solidFill>
                  <a:srgbClr val="0000FF"/>
                </a:solidFill>
                <a:latin typeface="Times New Roman" charset="0"/>
              </a:rPr>
              <a:t>Status information: Date, time, memory, disk space, number of users.</a:t>
            </a:r>
          </a:p>
          <a:p>
            <a:pPr lvl="1" algn="just" eaLnBrk="1" hangingPunct="1">
              <a:lnSpc>
                <a:spcPct val="90000"/>
              </a:lnSpc>
              <a:defRPr/>
            </a:pPr>
            <a:r>
              <a:rPr sz="1800" noProof="1">
                <a:solidFill>
                  <a:srgbClr val="0000FF"/>
                </a:solidFill>
                <a:latin typeface="Times New Roman" charset="0"/>
              </a:rPr>
              <a:t>File modification: Text editors to create and modify content of files.</a:t>
            </a:r>
          </a:p>
          <a:p>
            <a:pPr lvl="1" algn="just" eaLnBrk="1" hangingPunct="1">
              <a:lnSpc>
                <a:spcPct val="90000"/>
              </a:lnSpc>
              <a:defRPr/>
            </a:pPr>
            <a:r>
              <a:rPr sz="1800" noProof="1">
                <a:solidFill>
                  <a:srgbClr val="0000FF"/>
                </a:solidFill>
                <a:latin typeface="Times New Roman" charset="0"/>
              </a:rPr>
              <a:t>Programming-language support: Compilers, interpreters, assemblers.</a:t>
            </a:r>
          </a:p>
          <a:p>
            <a:pPr lvl="1" algn="just" eaLnBrk="1" hangingPunct="1">
              <a:lnSpc>
                <a:spcPct val="90000"/>
              </a:lnSpc>
              <a:defRPr/>
            </a:pPr>
            <a:r>
              <a:rPr sz="1800" noProof="1">
                <a:solidFill>
                  <a:srgbClr val="0000FF"/>
                </a:solidFill>
                <a:latin typeface="Times New Roman" charset="0"/>
              </a:rPr>
              <a:t>Program loading and execution: Absolute, Relocatable, Overlay loaders. </a:t>
            </a:r>
          </a:p>
          <a:p>
            <a:pPr lvl="1" algn="just" eaLnBrk="1" hangingPunct="1">
              <a:lnSpc>
                <a:spcPct val="90000"/>
              </a:lnSpc>
              <a:defRPr/>
            </a:pPr>
            <a:r>
              <a:rPr sz="1800" noProof="1">
                <a:solidFill>
                  <a:srgbClr val="0000FF"/>
                </a:solidFill>
                <a:latin typeface="Times New Roman" charset="0"/>
              </a:rPr>
              <a:t>Communication: Programs that provide the mechanism for creating virtual connections among processes, users, and different computer systems.</a:t>
            </a:r>
          </a:p>
        </p:txBody>
      </p:sp>
    </p:spTree>
    <p:extLst>
      <p:ext uri="{BB962C8B-B14F-4D97-AF65-F5344CB8AC3E}">
        <p14:creationId xmlns:p14="http://schemas.microsoft.com/office/powerpoint/2010/main" val="24864493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2355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" dur="500"/>
                                        <p:tgtEl>
                                          <p:spTgt spid="2355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3" dur="500"/>
                                        <p:tgtEl>
                                          <p:spTgt spid="2355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6" dur="500"/>
                                        <p:tgtEl>
                                          <p:spTgt spid="2355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2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9" dur="500"/>
                                        <p:tgtEl>
                                          <p:spTgt spid="23552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2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23552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2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5" dur="500"/>
                                        <p:tgtEl>
                                          <p:spTgt spid="23552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FABE9C8-C5A4-1F45-A356-2853D5594212}" type="slidenum">
              <a:rPr lang="en-AU"/>
              <a:pPr>
                <a:defRPr/>
              </a:pPr>
              <a:t>24</a:t>
            </a:fld>
            <a:endParaRPr lang="en-AU"/>
          </a:p>
        </p:txBody>
      </p:sp>
      <p:sp>
        <p:nvSpPr>
          <p:cNvPr id="201730" name="Rectangle 2"/>
          <p:cNvSpPr>
            <a:spLocks noGrp="1" noChangeArrowheads="1"/>
          </p:cNvSpPr>
          <p:nvPr>
            <p:ph type="title"/>
          </p:nvPr>
        </p:nvSpPr>
        <p:spPr>
          <a:xfrm>
            <a:off x="1676400" y="152401"/>
            <a:ext cx="8610600" cy="519113"/>
          </a:xfrm>
          <a:extLst>
            <a:ext uri="{91240B29-F687-4f45-9708-019B960494DF}">
              <a14:hiddenLine xmlns:a14="http://schemas.microsoft.com/office/drawing/2010/main" xmlns="" w="9525" cap="flat" cmpd="sng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defRPr/>
            </a:pPr>
            <a:r>
              <a:rPr sz="2800" b="1" noProof="1">
                <a:solidFill>
                  <a:srgbClr val="007000"/>
                </a:solidFill>
                <a:latin typeface="Times New Roman" charset="0"/>
              </a:rPr>
              <a:t>OS Structures</a:t>
            </a:r>
            <a:endParaRPr lang="en-US" sz="2800" b="1">
              <a:solidFill>
                <a:srgbClr val="007000"/>
              </a:solidFill>
              <a:latin typeface="Times New Roman" charset="0"/>
            </a:endParaRPr>
          </a:p>
        </p:txBody>
      </p:sp>
      <p:sp>
        <p:nvSpPr>
          <p:cNvPr id="2017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775520" y="836712"/>
            <a:ext cx="8496944" cy="2590800"/>
          </a:xfrm>
        </p:spPr>
        <p:txBody>
          <a:bodyPr/>
          <a:lstStyle/>
          <a:p>
            <a:pPr algn="just">
              <a:spcBef>
                <a:spcPts val="0"/>
              </a:spcBef>
              <a:spcAft>
                <a:spcPts val="600"/>
              </a:spcAft>
              <a:defRPr/>
            </a:pPr>
            <a:r>
              <a:rPr sz="2000" noProof="1">
                <a:solidFill>
                  <a:srgbClr val="0000FF"/>
                </a:solidFill>
                <a:latin typeface="Times New Roman" charset="0"/>
              </a:rPr>
              <a:t>A system as large and complex as a modern OS must be designed carefully such that it can function properly and be modified easily.</a:t>
            </a:r>
          </a:p>
          <a:p>
            <a:pPr>
              <a:spcBef>
                <a:spcPts val="0"/>
              </a:spcBef>
              <a:spcAft>
                <a:spcPts val="600"/>
              </a:spcAft>
              <a:defRPr/>
            </a:pPr>
            <a:r>
              <a:rPr lang="en-AU" sz="2000" dirty="0">
                <a:solidFill>
                  <a:srgbClr val="0000FF"/>
                </a:solidFill>
                <a:latin typeface="Times New Roman" charset="0"/>
              </a:rPr>
              <a:t>Various structures:</a:t>
            </a:r>
          </a:p>
          <a:p>
            <a:pPr lvl="1">
              <a:spcBef>
                <a:spcPts val="0"/>
              </a:spcBef>
              <a:spcAft>
                <a:spcPts val="600"/>
              </a:spcAft>
              <a:defRPr/>
            </a:pPr>
            <a:r>
              <a:rPr lang="en-AU" sz="1800" dirty="0">
                <a:solidFill>
                  <a:srgbClr val="0000FF"/>
                </a:solidFill>
                <a:latin typeface="Times New Roman" charset="0"/>
              </a:rPr>
              <a:t>Simple Structure/Monolithic</a:t>
            </a:r>
          </a:p>
          <a:p>
            <a:pPr lvl="1">
              <a:spcBef>
                <a:spcPts val="0"/>
              </a:spcBef>
              <a:spcAft>
                <a:spcPts val="600"/>
              </a:spcAft>
              <a:defRPr/>
            </a:pPr>
            <a:r>
              <a:rPr lang="en-AU" sz="1800" dirty="0">
                <a:solidFill>
                  <a:srgbClr val="0000FF"/>
                </a:solidFill>
                <a:latin typeface="Times New Roman" charset="0"/>
              </a:rPr>
              <a:t>Layered Approach</a:t>
            </a:r>
          </a:p>
          <a:p>
            <a:pPr lvl="1">
              <a:spcBef>
                <a:spcPts val="0"/>
              </a:spcBef>
              <a:spcAft>
                <a:spcPts val="600"/>
              </a:spcAft>
              <a:defRPr/>
            </a:pPr>
            <a:r>
              <a:rPr lang="en-AU" sz="1800" dirty="0">
                <a:solidFill>
                  <a:srgbClr val="0000FF"/>
                </a:solidFill>
                <a:latin typeface="Times New Roman" charset="0"/>
              </a:rPr>
              <a:t>Microkernels</a:t>
            </a:r>
          </a:p>
          <a:p>
            <a:pPr lvl="1">
              <a:spcBef>
                <a:spcPts val="0"/>
              </a:spcBef>
              <a:spcAft>
                <a:spcPts val="600"/>
              </a:spcAft>
              <a:defRPr/>
            </a:pPr>
            <a:r>
              <a:rPr lang="en-AU" sz="1800" dirty="0">
                <a:solidFill>
                  <a:srgbClr val="0000FF"/>
                </a:solidFill>
                <a:latin typeface="Times New Roman" charset="0"/>
              </a:rPr>
              <a:t>Modules</a:t>
            </a:r>
            <a:endParaRPr sz="1800" noProof="1">
              <a:solidFill>
                <a:srgbClr val="0000FF"/>
              </a:solidFill>
              <a:latin typeface="Times New Roman" charset="0"/>
            </a:endParaRPr>
          </a:p>
          <a:p>
            <a:pPr>
              <a:spcBef>
                <a:spcPts val="0"/>
              </a:spcBef>
              <a:spcAft>
                <a:spcPts val="600"/>
              </a:spcAft>
              <a:defRPr/>
            </a:pPr>
            <a:endParaRPr lang="en-US" dirty="0">
              <a:solidFill>
                <a:srgbClr val="0000FF"/>
              </a:solidFill>
              <a:latin typeface="Times New Roman" charset="0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CDEE20B-3CC6-D643-BB5C-652DF1B99F4C}" type="slidenum">
              <a:rPr lang="en-AU"/>
              <a:pPr>
                <a:defRPr/>
              </a:pPr>
              <a:t>25</a:t>
            </a:fld>
            <a:endParaRPr lang="en-AU"/>
          </a:p>
        </p:txBody>
      </p:sp>
      <p:sp>
        <p:nvSpPr>
          <p:cNvPr id="202754" name="Rectangle 2"/>
          <p:cNvSpPr>
            <a:spLocks noGrp="1" noChangeArrowheads="1"/>
          </p:cNvSpPr>
          <p:nvPr>
            <p:ph type="title"/>
          </p:nvPr>
        </p:nvSpPr>
        <p:spPr>
          <a:xfrm>
            <a:off x="1752600" y="152401"/>
            <a:ext cx="8610600" cy="519113"/>
          </a:xfrm>
          <a:extLst>
            <a:ext uri="{91240B29-F687-4f45-9708-019B960494DF}">
              <a14:hiddenLine xmlns:a14="http://schemas.microsoft.com/office/drawing/2010/main" xmlns="" w="9525" cap="flat" cmpd="sng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defRPr/>
            </a:pPr>
            <a:r>
              <a:rPr sz="2800" b="1" noProof="1">
                <a:solidFill>
                  <a:srgbClr val="007000"/>
                </a:solidFill>
                <a:latin typeface="Times New Roman" charset="0"/>
              </a:rPr>
              <a:t>Simple Structure</a:t>
            </a:r>
            <a:endParaRPr lang="en-US" sz="2800" b="1">
              <a:solidFill>
                <a:srgbClr val="007000"/>
              </a:solidFill>
              <a:latin typeface="Times New Roman" charset="0"/>
            </a:endParaRPr>
          </a:p>
        </p:txBody>
      </p:sp>
      <p:sp>
        <p:nvSpPr>
          <p:cNvPr id="2027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752600" y="836614"/>
            <a:ext cx="4343400" cy="4954587"/>
          </a:xfrm>
        </p:spPr>
        <p:txBody>
          <a:bodyPr/>
          <a:lstStyle/>
          <a:p>
            <a:pPr algn="just" eaLnBrk="1" hangingPunct="1">
              <a:defRPr/>
            </a:pPr>
            <a:r>
              <a:rPr lang="en-AU" sz="2400" dirty="0">
                <a:solidFill>
                  <a:srgbClr val="0000FF"/>
                </a:solidFill>
                <a:latin typeface="Times New Roman" charset="0"/>
              </a:rPr>
              <a:t>No well-defined structures.</a:t>
            </a:r>
          </a:p>
          <a:p>
            <a:pPr algn="just" eaLnBrk="1" hangingPunct="1">
              <a:defRPr/>
            </a:pPr>
            <a:r>
              <a:rPr sz="2400" noProof="1">
                <a:solidFill>
                  <a:srgbClr val="0000FF"/>
                </a:solidFill>
                <a:latin typeface="Times New Roman" charset="0"/>
              </a:rPr>
              <a:t>MS-D</a:t>
            </a:r>
            <a:r>
              <a:rPr lang="en-AU" sz="2400" dirty="0">
                <a:solidFill>
                  <a:srgbClr val="0000FF"/>
                </a:solidFill>
                <a:latin typeface="Times New Roman" charset="0"/>
              </a:rPr>
              <a:t>OS</a:t>
            </a:r>
            <a:r>
              <a:rPr sz="2400" noProof="1">
                <a:solidFill>
                  <a:srgbClr val="0000FF"/>
                </a:solidFill>
                <a:latin typeface="Times New Roman" charset="0"/>
              </a:rPr>
              <a:t> - written to provide the most functionality in the least space.</a:t>
            </a:r>
          </a:p>
          <a:p>
            <a:pPr eaLnBrk="1" hangingPunct="1">
              <a:defRPr/>
            </a:pPr>
            <a:r>
              <a:rPr sz="2400" noProof="1">
                <a:solidFill>
                  <a:srgbClr val="0000FF"/>
                </a:solidFill>
                <a:latin typeface="Times New Roman" charset="0"/>
              </a:rPr>
              <a:t>It is not divided into modules</a:t>
            </a:r>
          </a:p>
          <a:p>
            <a:pPr eaLnBrk="1" hangingPunct="1">
              <a:defRPr/>
            </a:pPr>
            <a:r>
              <a:rPr sz="2400" noProof="1">
                <a:solidFill>
                  <a:srgbClr val="0000FF"/>
                </a:solidFill>
                <a:latin typeface="Times New Roman" charset="0"/>
              </a:rPr>
              <a:t>Although MS-DOS has some structure, its interfaces and levels of functionality are not well separated</a:t>
            </a:r>
            <a:endParaRPr lang="en-US" dirty="0">
              <a:solidFill>
                <a:srgbClr val="0000FF"/>
              </a:solidFill>
              <a:latin typeface="Times New Roman" charset="0"/>
            </a:endParaRPr>
          </a:p>
        </p:txBody>
      </p:sp>
      <p:grpSp>
        <p:nvGrpSpPr>
          <p:cNvPr id="80900" name="Group 4"/>
          <p:cNvGrpSpPr>
            <a:grpSpLocks/>
          </p:cNvGrpSpPr>
          <p:nvPr/>
        </p:nvGrpSpPr>
        <p:grpSpPr bwMode="auto">
          <a:xfrm>
            <a:off x="6477000" y="2514600"/>
            <a:ext cx="3810000" cy="2743200"/>
            <a:chOff x="2961" y="7202"/>
            <a:chExt cx="5040" cy="4409"/>
          </a:xfrm>
        </p:grpSpPr>
        <p:sp>
          <p:nvSpPr>
            <p:cNvPr id="80902" name="Text Box 5"/>
            <p:cNvSpPr txBox="1">
              <a:spLocks noChangeArrowheads="1"/>
            </p:cNvSpPr>
            <p:nvPr/>
          </p:nvSpPr>
          <p:spPr bwMode="auto">
            <a:xfrm>
              <a:off x="2961" y="7202"/>
              <a:ext cx="5040" cy="705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9pPr>
            </a:lstStyle>
            <a:p>
              <a:pPr algn="ctr">
                <a:spcBef>
                  <a:spcPts val="600"/>
                </a:spcBef>
                <a:spcAft>
                  <a:spcPts val="600"/>
                </a:spcAft>
              </a:pPr>
              <a:r>
                <a:rPr lang="en-US" sz="1800">
                  <a:solidFill>
                    <a:srgbClr val="0000FF"/>
                  </a:solidFill>
                </a:rPr>
                <a:t>Application program</a:t>
              </a:r>
              <a:endParaRPr lang="en-US" sz="1800">
                <a:solidFill>
                  <a:srgbClr val="0000FF"/>
                </a:solidFill>
                <a:latin typeface="Palatino" charset="0"/>
              </a:endParaRPr>
            </a:p>
          </p:txBody>
        </p:sp>
        <p:sp>
          <p:nvSpPr>
            <p:cNvPr id="80903" name="Text Box 6"/>
            <p:cNvSpPr txBox="1">
              <a:spLocks noChangeArrowheads="1"/>
            </p:cNvSpPr>
            <p:nvPr/>
          </p:nvSpPr>
          <p:spPr bwMode="auto">
            <a:xfrm>
              <a:off x="3141" y="8671"/>
              <a:ext cx="3780" cy="705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9pPr>
            </a:lstStyle>
            <a:p>
              <a:pPr algn="ctr">
                <a:spcBef>
                  <a:spcPts val="600"/>
                </a:spcBef>
                <a:spcAft>
                  <a:spcPts val="600"/>
                </a:spcAft>
              </a:pPr>
              <a:r>
                <a:rPr lang="en-US" sz="1800">
                  <a:solidFill>
                    <a:srgbClr val="0000FF"/>
                  </a:solidFill>
                </a:rPr>
                <a:t>Resident system program</a:t>
              </a:r>
              <a:endParaRPr lang="en-US" sz="1800">
                <a:solidFill>
                  <a:srgbClr val="0000FF"/>
                </a:solidFill>
                <a:latin typeface="Palatino" charset="0"/>
              </a:endParaRPr>
            </a:p>
          </p:txBody>
        </p:sp>
        <p:sp>
          <p:nvSpPr>
            <p:cNvPr id="80904" name="Text Box 7"/>
            <p:cNvSpPr txBox="1">
              <a:spLocks noChangeArrowheads="1"/>
            </p:cNvSpPr>
            <p:nvPr/>
          </p:nvSpPr>
          <p:spPr bwMode="auto">
            <a:xfrm>
              <a:off x="3141" y="9780"/>
              <a:ext cx="3195" cy="705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9pPr>
            </a:lstStyle>
            <a:p>
              <a:pPr algn="ctr">
                <a:spcBef>
                  <a:spcPts val="600"/>
                </a:spcBef>
                <a:spcAft>
                  <a:spcPts val="600"/>
                </a:spcAft>
              </a:pPr>
              <a:r>
                <a:rPr lang="en-US" sz="1800">
                  <a:solidFill>
                    <a:srgbClr val="0000FF"/>
                  </a:solidFill>
                </a:rPr>
                <a:t>MS-Dos device drivers</a:t>
              </a:r>
              <a:endParaRPr lang="en-US" sz="1400">
                <a:solidFill>
                  <a:srgbClr val="0000FF"/>
                </a:solidFill>
                <a:latin typeface="Palatino" charset="0"/>
              </a:endParaRPr>
            </a:p>
          </p:txBody>
        </p:sp>
        <p:sp>
          <p:nvSpPr>
            <p:cNvPr id="80905" name="Text Box 8"/>
            <p:cNvSpPr txBox="1">
              <a:spLocks noChangeArrowheads="1"/>
            </p:cNvSpPr>
            <p:nvPr/>
          </p:nvSpPr>
          <p:spPr bwMode="auto">
            <a:xfrm>
              <a:off x="3165" y="10906"/>
              <a:ext cx="4476" cy="705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9pPr>
            </a:lstStyle>
            <a:p>
              <a:pPr algn="ctr"/>
              <a:r>
                <a:rPr lang="en-US" sz="1800">
                  <a:solidFill>
                    <a:srgbClr val="0000FF"/>
                  </a:solidFill>
                </a:rPr>
                <a:t>ROM BIOS Device drivers</a:t>
              </a:r>
              <a:endParaRPr lang="en-US">
                <a:solidFill>
                  <a:srgbClr val="0000FF"/>
                </a:solidFill>
              </a:endParaRPr>
            </a:p>
          </p:txBody>
        </p:sp>
        <p:sp>
          <p:nvSpPr>
            <p:cNvPr id="80906" name="AutoShape 9"/>
            <p:cNvSpPr>
              <a:spLocks noChangeArrowheads="1"/>
            </p:cNvSpPr>
            <p:nvPr/>
          </p:nvSpPr>
          <p:spPr bwMode="auto">
            <a:xfrm>
              <a:off x="3681" y="7936"/>
              <a:ext cx="180" cy="720"/>
            </a:xfrm>
            <a:prstGeom prst="downArrow">
              <a:avLst>
                <a:gd name="adj1" fmla="val 50000"/>
                <a:gd name="adj2" fmla="val 100000"/>
              </a:avLst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>
                <a:solidFill>
                  <a:srgbClr val="0000FF"/>
                </a:solidFill>
              </a:endParaRPr>
            </a:p>
          </p:txBody>
        </p:sp>
        <p:sp>
          <p:nvSpPr>
            <p:cNvPr id="80907" name="AutoShape 10"/>
            <p:cNvSpPr>
              <a:spLocks noChangeArrowheads="1"/>
            </p:cNvSpPr>
            <p:nvPr/>
          </p:nvSpPr>
          <p:spPr bwMode="auto">
            <a:xfrm>
              <a:off x="3681" y="9405"/>
              <a:ext cx="180" cy="360"/>
            </a:xfrm>
            <a:prstGeom prst="downArrow">
              <a:avLst>
                <a:gd name="adj1" fmla="val 50000"/>
                <a:gd name="adj2" fmla="val 50000"/>
              </a:avLst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>
                <a:solidFill>
                  <a:srgbClr val="0000FF"/>
                </a:solidFill>
              </a:endParaRPr>
            </a:p>
          </p:txBody>
        </p:sp>
        <p:sp>
          <p:nvSpPr>
            <p:cNvPr id="80908" name="AutoShape 11"/>
            <p:cNvSpPr>
              <a:spLocks noChangeArrowheads="1"/>
            </p:cNvSpPr>
            <p:nvPr/>
          </p:nvSpPr>
          <p:spPr bwMode="auto">
            <a:xfrm>
              <a:off x="3681" y="10514"/>
              <a:ext cx="180" cy="360"/>
            </a:xfrm>
            <a:prstGeom prst="downArrow">
              <a:avLst>
                <a:gd name="adj1" fmla="val 50000"/>
                <a:gd name="adj2" fmla="val 50000"/>
              </a:avLst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>
                <a:solidFill>
                  <a:srgbClr val="0000FF"/>
                </a:solidFill>
              </a:endParaRPr>
            </a:p>
          </p:txBody>
        </p:sp>
        <p:sp>
          <p:nvSpPr>
            <p:cNvPr id="80909" name="AutoShape 12"/>
            <p:cNvSpPr>
              <a:spLocks noChangeArrowheads="1"/>
            </p:cNvSpPr>
            <p:nvPr/>
          </p:nvSpPr>
          <p:spPr bwMode="auto">
            <a:xfrm>
              <a:off x="6561" y="9405"/>
              <a:ext cx="180" cy="1440"/>
            </a:xfrm>
            <a:prstGeom prst="downArrow">
              <a:avLst>
                <a:gd name="adj1" fmla="val 50000"/>
                <a:gd name="adj2" fmla="val 200000"/>
              </a:avLst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>
                <a:solidFill>
                  <a:srgbClr val="0000FF"/>
                </a:solidFill>
              </a:endParaRPr>
            </a:p>
          </p:txBody>
        </p:sp>
        <p:sp>
          <p:nvSpPr>
            <p:cNvPr id="80910" name="AutoShape 13"/>
            <p:cNvSpPr>
              <a:spLocks noChangeArrowheads="1"/>
            </p:cNvSpPr>
            <p:nvPr/>
          </p:nvSpPr>
          <p:spPr bwMode="auto">
            <a:xfrm>
              <a:off x="7101" y="7936"/>
              <a:ext cx="180" cy="2880"/>
            </a:xfrm>
            <a:prstGeom prst="downArrow">
              <a:avLst>
                <a:gd name="adj1" fmla="val 50000"/>
                <a:gd name="adj2" fmla="val 400000"/>
              </a:avLst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>
                <a:solidFill>
                  <a:srgbClr val="0000FF"/>
                </a:solidFill>
              </a:endParaRPr>
            </a:p>
          </p:txBody>
        </p:sp>
      </p:grpSp>
      <p:sp>
        <p:nvSpPr>
          <p:cNvPr id="202767" name="Rectangle 15"/>
          <p:cNvSpPr>
            <a:spLocks noChangeArrowheads="1"/>
          </p:cNvSpPr>
          <p:nvPr/>
        </p:nvSpPr>
        <p:spPr bwMode="auto">
          <a:xfrm>
            <a:off x="6629400" y="1828800"/>
            <a:ext cx="3657600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 algn="just">
              <a:lnSpc>
                <a:spcPct val="90000"/>
              </a:lnSpc>
              <a:spcBef>
                <a:spcPct val="20000"/>
              </a:spcBef>
              <a:buClr>
                <a:schemeClr val="bg2"/>
              </a:buClr>
              <a:buSzPct val="65000"/>
              <a:defRPr/>
            </a:pPr>
            <a:r>
              <a:rPr noProof="1">
                <a:solidFill>
                  <a:srgbClr val="0000FF"/>
                </a:solidFill>
              </a:rPr>
              <a:t>MS-DOS layer structure</a:t>
            </a:r>
            <a:endParaRPr noProof="1">
              <a:solidFill>
                <a:srgbClr val="0000FF"/>
              </a:solidFill>
              <a:latin typeface="Palatino" charset="0"/>
            </a:endParaRP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chemeClr val="bg2"/>
              </a:buClr>
              <a:buSzPct val="65000"/>
              <a:buFont typeface="Wingdings" charset="0"/>
              <a:buChar char="­"/>
              <a:defRPr/>
            </a:pPr>
            <a:endParaRPr lang="en-US" sz="2800" dirty="0">
              <a:solidFill>
                <a:srgbClr val="0000FF"/>
              </a:solidFill>
              <a:latin typeface="Arial" charset="0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728B5E2-0FC2-B047-BC41-4FC9B7F3C299}" type="slidenum">
              <a:rPr lang="en-AU"/>
              <a:pPr>
                <a:defRPr/>
              </a:pPr>
              <a:t>26</a:t>
            </a:fld>
            <a:endParaRPr lang="en-AU"/>
          </a:p>
        </p:txBody>
      </p:sp>
      <p:sp>
        <p:nvSpPr>
          <p:cNvPr id="205826" name="Rectangle 2"/>
          <p:cNvSpPr>
            <a:spLocks noGrp="1" noChangeArrowheads="1"/>
          </p:cNvSpPr>
          <p:nvPr>
            <p:ph type="title"/>
          </p:nvPr>
        </p:nvSpPr>
        <p:spPr>
          <a:xfrm>
            <a:off x="1828800" y="152401"/>
            <a:ext cx="8610600" cy="519113"/>
          </a:xfrm>
          <a:extLst>
            <a:ext uri="{91240B29-F687-4f45-9708-019B960494DF}">
              <a14:hiddenLine xmlns:a14="http://schemas.microsoft.com/office/drawing/2010/main" xmlns="" w="9525" cap="flat" cmpd="sng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defRPr/>
            </a:pPr>
            <a:r>
              <a:rPr sz="2800" b="1" noProof="1">
                <a:solidFill>
                  <a:srgbClr val="007000"/>
                </a:solidFill>
                <a:latin typeface="Times New Roman" charset="0"/>
              </a:rPr>
              <a:t>UNIX system structure</a:t>
            </a:r>
            <a:endParaRPr lang="en-US" sz="2800" b="1">
              <a:solidFill>
                <a:srgbClr val="007000"/>
              </a:solidFill>
              <a:latin typeface="Times New Roman" charset="0"/>
            </a:endParaRPr>
          </a:p>
        </p:txBody>
      </p:sp>
      <p:graphicFrame>
        <p:nvGraphicFramePr>
          <p:cNvPr id="205895" name="Group 71"/>
          <p:cNvGraphicFramePr>
            <a:graphicFrameLocks noGrp="1"/>
          </p:cNvGraphicFramePr>
          <p:nvPr/>
        </p:nvGraphicFramePr>
        <p:xfrm>
          <a:off x="1775520" y="836713"/>
          <a:ext cx="5256584" cy="3643485"/>
        </p:xfrm>
        <a:graphic>
          <a:graphicData uri="http://schemas.openxmlformats.org/drawingml/2006/table">
            <a:tbl>
              <a:tblPr/>
              <a:tblGrid>
                <a:gridCol w="17028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509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028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2285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charset="0"/>
                        <a:buNone/>
                        <a:tabLst/>
                      </a:pPr>
                      <a:r>
                        <a:rPr kumimoji="0" sz="1400" b="0" i="0" u="none" strike="noStrike" cap="none" normalizeH="0" baseline="0" noProof="1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(the users)</a:t>
                      </a: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marT="45721" marB="4572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07135">
                <a:tc gridSpan="3">
                  <a:txBody>
                    <a:bodyPr/>
                    <a:lstStyle/>
                    <a:p>
                      <a:pPr marL="1828800" marR="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Tx/>
                        <a:buChar char="•"/>
                        <a:tabLst/>
                      </a:pPr>
                      <a:r>
                        <a:rPr kumimoji="0" sz="1400" b="0" i="0" u="none" strike="noStrike" cap="none" normalizeH="0" baseline="0" noProof="1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Shells and commands</a:t>
                      </a:r>
                    </a:p>
                    <a:p>
                      <a:pPr marL="1828800" marR="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Tx/>
                        <a:buChar char="•"/>
                        <a:tabLst/>
                      </a:pPr>
                      <a:r>
                        <a:rPr kumimoji="0" sz="1400" b="0" i="0" u="none" strike="noStrike" cap="none" normalizeH="0" baseline="0" noProof="1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Compilers and interpreters</a:t>
                      </a:r>
                    </a:p>
                    <a:p>
                      <a:pPr marL="1828800" marR="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Tx/>
                        <a:buChar char="•"/>
                        <a:tabLst/>
                      </a:pPr>
                      <a:r>
                        <a:rPr kumimoji="0" sz="1400" b="0" i="0" u="none" strike="noStrike" cap="none" normalizeH="0" baseline="0" noProof="1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System libraries</a:t>
                      </a: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marT="45721" marB="4572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2285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charset="0"/>
                        <a:buNone/>
                        <a:tabLst/>
                      </a:pPr>
                      <a:r>
                        <a:rPr kumimoji="0" sz="1400" b="0" i="1" u="none" strike="noStrike" cap="none" normalizeH="0" baseline="0" noProof="1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System call interface to the kernel</a:t>
                      </a:r>
                      <a:endParaRPr kumimoji="0" lang="en-US" sz="1400" b="0" i="1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marT="45721" marB="4572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6854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charset="0"/>
                        <a:buNone/>
                        <a:tabLst/>
                      </a:pPr>
                      <a:r>
                        <a:rPr kumimoji="0" sz="1400" b="0" i="0" u="none" strike="noStrike" cap="none" normalizeH="0" baseline="0" noProof="1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Signals terminal handling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charset="0"/>
                        <a:buNone/>
                        <a:tabLst/>
                      </a:pPr>
                      <a:r>
                        <a:rPr kumimoji="0" sz="1400" b="0" i="0" u="none" strike="noStrike" cap="none" normalizeH="0" baseline="0" noProof="1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Character I/O system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charset="0"/>
                        <a:buNone/>
                        <a:tabLst/>
                      </a:pPr>
                      <a:r>
                        <a:rPr kumimoji="0" sz="1400" b="0" i="0" u="none" strike="noStrike" cap="none" normalizeH="0" baseline="0" noProof="1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Terminal drivers</a:t>
                      </a: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marT="45721" marB="4572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charset="0"/>
                        <a:buNone/>
                        <a:tabLst/>
                      </a:pPr>
                      <a:r>
                        <a:rPr kumimoji="0" sz="1400" b="0" i="0" u="none" strike="noStrike" cap="none" normalizeH="0" baseline="0" noProof="1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File system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charset="0"/>
                        <a:buNone/>
                        <a:tabLst/>
                      </a:pPr>
                      <a:r>
                        <a:rPr kumimoji="0" sz="1400" b="0" i="0" u="none" strike="noStrike" cap="none" normalizeH="0" baseline="0" noProof="1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Swapping block I/O 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charset="0"/>
                        <a:buNone/>
                        <a:tabLst/>
                      </a:pPr>
                      <a:r>
                        <a:rPr kumimoji="0" sz="1400" b="0" i="0" u="none" strike="noStrike" cap="none" normalizeH="0" baseline="0" noProof="1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Disk/tape drivers</a:t>
                      </a: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marT="45721" marB="4572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charset="0"/>
                        <a:buNone/>
                        <a:tabLst/>
                      </a:pPr>
                      <a:r>
                        <a:rPr kumimoji="0" sz="1400" b="0" i="0" u="none" strike="noStrike" cap="none" normalizeH="0" baseline="0" noProof="1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CPU scheduling</a:t>
                      </a:r>
                    </a:p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charset="0"/>
                        <a:buNone/>
                        <a:tabLst/>
                      </a:pPr>
                      <a:r>
                        <a:rPr kumimoji="0" sz="1400" b="0" i="0" u="none" strike="noStrike" cap="none" normalizeH="0" baseline="0" noProof="1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Page replacement</a:t>
                      </a:r>
                    </a:p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charset="0"/>
                        <a:buNone/>
                        <a:tabLst/>
                      </a:pPr>
                      <a:r>
                        <a:rPr kumimoji="0" sz="1400" b="0" i="0" u="none" strike="noStrike" cap="none" normalizeH="0" baseline="0" noProof="1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Demand paging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charset="0"/>
                        <a:buNone/>
                        <a:tabLst/>
                      </a:pPr>
                      <a:r>
                        <a:rPr kumimoji="0" sz="1400" b="0" i="0" u="none" strike="noStrike" cap="none" normalizeH="0" baseline="0" noProof="1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Virtual memory</a:t>
                      </a: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marT="45721" marB="4572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2285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charset="0"/>
                        <a:buNone/>
                        <a:tabLst/>
                      </a:pPr>
                      <a:r>
                        <a:rPr kumimoji="0" sz="1400" b="0" i="1" u="none" strike="noStrike" cap="none" normalizeH="0" baseline="0" noProof="1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Kernel interface to the hardware</a:t>
                      </a:r>
                      <a:endParaRPr kumimoji="0" lang="en-US" sz="1400" b="0" i="1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marT="45721" marB="4572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8786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charset="0"/>
                        <a:buNone/>
                        <a:tabLst/>
                      </a:pPr>
                      <a:r>
                        <a:rPr kumimoji="0" sz="1400" b="0" i="0" u="none" strike="noStrike" cap="none" normalizeH="0" baseline="0" noProof="1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Terminal controllers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charset="0"/>
                        <a:buNone/>
                        <a:tabLst/>
                      </a:pPr>
                      <a:r>
                        <a:rPr kumimoji="0" sz="1400" b="0" i="0" u="none" strike="noStrike" cap="none" normalizeH="0" baseline="0" noProof="1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Terminals</a:t>
                      </a: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charset="0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marT="45721" marB="4572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charset="0"/>
                        <a:buNone/>
                        <a:tabLst/>
                      </a:pPr>
                      <a:r>
                        <a:rPr kumimoji="0" sz="1400" b="0" i="0" u="none" strike="noStrike" cap="none" normalizeH="0" baseline="0" noProof="1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Device controllers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charset="0"/>
                        <a:buNone/>
                        <a:tabLst/>
                      </a:pPr>
                      <a:r>
                        <a:rPr kumimoji="0" sz="1400" b="0" i="0" u="none" strike="noStrike" cap="none" normalizeH="0" baseline="0" noProof="1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Disks and tapes</a:t>
                      </a: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marT="45721" marB="4572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charset="0"/>
                        <a:buNone/>
                        <a:tabLst/>
                      </a:pPr>
                      <a:r>
                        <a:rPr kumimoji="0" sz="1400" b="0" i="0" u="none" strike="noStrike" cap="none" normalizeH="0" baseline="0" noProof="1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Memory controllers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charset="0"/>
                        <a:buNone/>
                        <a:tabLst/>
                      </a:pPr>
                      <a:r>
                        <a:rPr kumimoji="0" sz="1400" b="0" i="0" u="none" strike="noStrike" cap="none" normalizeH="0" baseline="0" noProof="1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Physical memory</a:t>
                      </a: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marT="45721" marB="4572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1703512" y="4797152"/>
            <a:ext cx="8208912" cy="15841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charset="0"/>
              <a:buChar char="­"/>
              <a:defRPr sz="3200">
                <a:solidFill>
                  <a:schemeClr val="tx1"/>
                </a:solidFill>
                <a:latin typeface="+mn-lt"/>
                <a:ea typeface="+mn-ea"/>
                <a:cs typeface="ＭＳ Ｐゴシック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charset="0"/>
              <a:buChar char="­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Char char="•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Char char="•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Char char="•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Char char="•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Char char="•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355600" indent="-355600" ea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AU" sz="2000" noProof="1">
                <a:solidFill>
                  <a:srgbClr val="0000FF"/>
                </a:solidFill>
                <a:latin typeface="Times New Roman" charset="0"/>
              </a:rPr>
              <a:t>Kernel consists of everything below the </a:t>
            </a:r>
            <a:r>
              <a:rPr lang="en-AU" sz="2000" i="1" noProof="1">
                <a:solidFill>
                  <a:srgbClr val="0000FF"/>
                </a:solidFill>
                <a:latin typeface="Times New Roman" charset="0"/>
              </a:rPr>
              <a:t>system-call interface </a:t>
            </a:r>
            <a:r>
              <a:rPr lang="en-AU" sz="2000" noProof="1">
                <a:solidFill>
                  <a:srgbClr val="0000FF"/>
                </a:solidFill>
                <a:latin typeface="Times New Roman" charset="0"/>
              </a:rPr>
              <a:t>and above the </a:t>
            </a:r>
            <a:r>
              <a:rPr lang="en-AU" sz="2000" i="1" noProof="1">
                <a:solidFill>
                  <a:srgbClr val="0000FF"/>
                </a:solidFill>
                <a:latin typeface="Times New Roman" charset="0"/>
              </a:rPr>
              <a:t>physical hardware</a:t>
            </a:r>
          </a:p>
          <a:p>
            <a:pPr marL="627063" lvl="1" indent="-271463" algn="just" ea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AU" sz="1600" noProof="1">
                <a:solidFill>
                  <a:srgbClr val="0000FF"/>
                </a:solidFill>
                <a:latin typeface="Times New Roman" charset="0"/>
              </a:rPr>
              <a:t>It provides the file system, CPU scheduling, memory management, and other operating-system functions; </a:t>
            </a:r>
          </a:p>
          <a:p>
            <a:pPr marL="627063" lvl="3" indent="-271463" algn="just" ea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AU" sz="1600" noProof="1">
                <a:solidFill>
                  <a:srgbClr val="0000FF"/>
                </a:solidFill>
                <a:latin typeface="Times New Roman" charset="0"/>
              </a:rPr>
              <a:t>It contains many functions in one level</a:t>
            </a:r>
            <a:r>
              <a:rPr lang="en-AU" sz="1600" dirty="0">
                <a:solidFill>
                  <a:srgbClr val="0000FF"/>
                </a:solidFill>
                <a:latin typeface="Times New Roman" charset="0"/>
              </a:rPr>
              <a:t> </a:t>
            </a:r>
            <a:r>
              <a:rPr lang="en-AU" sz="1600" dirty="0">
                <a:solidFill>
                  <a:srgbClr val="0000FF"/>
                </a:solidFill>
                <a:latin typeface="Times New Roman" charset="0"/>
                <a:sym typeface="Wingdings" charset="0"/>
              </a:rPr>
              <a:t> difficult to implement and maintain.</a:t>
            </a:r>
            <a:endParaRPr lang="en-AU" sz="1600" dirty="0">
              <a:solidFill>
                <a:srgbClr val="0000FF"/>
              </a:solidFill>
              <a:latin typeface="Times New Roman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7032104" y="836713"/>
            <a:ext cx="3312368" cy="27392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spcAft>
                <a:spcPts val="600"/>
              </a:spcAft>
              <a:buFont typeface="Arial"/>
              <a:buChar char="•"/>
              <a:defRPr/>
            </a:pPr>
            <a:r>
              <a:rPr lang="en-AU" sz="1600" dirty="0">
                <a:solidFill>
                  <a:srgbClr val="0000FF"/>
                </a:solidFill>
              </a:rPr>
              <a:t>The original </a:t>
            </a:r>
            <a:r>
              <a:rPr lang="en-AU" sz="1600" noProof="1">
                <a:solidFill>
                  <a:srgbClr val="0000FF"/>
                </a:solidFill>
              </a:rPr>
              <a:t>Unix </a:t>
            </a:r>
            <a:r>
              <a:rPr lang="en-AU" sz="1600" dirty="0">
                <a:solidFill>
                  <a:srgbClr val="0000FF"/>
                </a:solidFill>
              </a:rPr>
              <a:t>OS </a:t>
            </a:r>
            <a:r>
              <a:rPr lang="en-AU" sz="1600" noProof="1">
                <a:solidFill>
                  <a:srgbClr val="0000FF"/>
                </a:solidFill>
              </a:rPr>
              <a:t>was limited by hardware functionality</a:t>
            </a:r>
            <a:r>
              <a:rPr lang="en-AU" sz="1600" dirty="0">
                <a:solidFill>
                  <a:srgbClr val="0000FF"/>
                </a:solidFill>
              </a:rPr>
              <a:t> </a:t>
            </a:r>
          </a:p>
          <a:p>
            <a:pPr marL="742950" lvl="1" indent="-285750" algn="just">
              <a:spcAft>
                <a:spcPts val="600"/>
              </a:spcAft>
              <a:buFont typeface="Arial"/>
              <a:buChar char="•"/>
              <a:defRPr/>
            </a:pPr>
            <a:r>
              <a:rPr lang="en-AU" sz="1600" dirty="0">
                <a:solidFill>
                  <a:srgbClr val="0000FF"/>
                </a:solidFill>
                <a:sym typeface="Wingdings" charset="0"/>
              </a:rPr>
              <a:t>it </a:t>
            </a:r>
            <a:r>
              <a:rPr lang="en-AU" sz="1600" noProof="1">
                <a:solidFill>
                  <a:srgbClr val="0000FF"/>
                </a:solidFill>
              </a:rPr>
              <a:t>had limited structuring. </a:t>
            </a:r>
          </a:p>
          <a:p>
            <a:pPr marL="285750" indent="-285750" algn="just">
              <a:spcAft>
                <a:spcPts val="600"/>
              </a:spcAft>
              <a:buFont typeface="Arial"/>
              <a:buChar char="•"/>
              <a:defRPr/>
            </a:pPr>
            <a:r>
              <a:rPr lang="en-AU" sz="1600" noProof="1">
                <a:solidFill>
                  <a:srgbClr val="0000FF"/>
                </a:solidFill>
              </a:rPr>
              <a:t>The UNIX OS consists of two separable parts:</a:t>
            </a:r>
          </a:p>
          <a:p>
            <a:pPr marL="557213" lvl="1" indent="-285750">
              <a:buFont typeface="Arial"/>
              <a:buChar char="•"/>
              <a:defRPr/>
            </a:pPr>
            <a:r>
              <a:rPr lang="en-AU" sz="1600" noProof="1">
                <a:solidFill>
                  <a:srgbClr val="0000FF"/>
                </a:solidFill>
              </a:rPr>
              <a:t>System programs</a:t>
            </a:r>
          </a:p>
          <a:p>
            <a:pPr marL="557213" lvl="1" indent="-285750">
              <a:buFont typeface="Arial"/>
              <a:buChar char="•"/>
              <a:defRPr/>
            </a:pPr>
            <a:r>
              <a:rPr lang="en-AU" sz="1600" noProof="1">
                <a:solidFill>
                  <a:srgbClr val="0000FF"/>
                </a:solidFill>
              </a:rPr>
              <a:t>Kernel</a:t>
            </a:r>
          </a:p>
          <a:p>
            <a:pPr marL="742950" lvl="1" indent="-285750" algn="just">
              <a:spcAft>
                <a:spcPts val="600"/>
              </a:spcAft>
              <a:buFont typeface="Arial"/>
              <a:buChar char="•"/>
              <a:defRPr/>
            </a:pPr>
            <a:endParaRPr lang="en-AU" sz="1600" noProof="1">
              <a:solidFill>
                <a:srgbClr val="0000FF"/>
              </a:solidFill>
            </a:endParaRPr>
          </a:p>
          <a:p>
            <a:endParaRPr lang="en-US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9A935D3-85CF-504A-9162-D7847750C422}" type="slidenum">
              <a:rPr lang="en-AU"/>
              <a:pPr>
                <a:defRPr/>
              </a:pPr>
              <a:t>27</a:t>
            </a:fld>
            <a:endParaRPr lang="en-AU"/>
          </a:p>
        </p:txBody>
      </p:sp>
      <p:sp>
        <p:nvSpPr>
          <p:cNvPr id="204802" name="Rectangle 2"/>
          <p:cNvSpPr>
            <a:spLocks noGrp="1" noChangeArrowheads="1"/>
          </p:cNvSpPr>
          <p:nvPr>
            <p:ph type="title"/>
          </p:nvPr>
        </p:nvSpPr>
        <p:spPr>
          <a:xfrm>
            <a:off x="1752600" y="152401"/>
            <a:ext cx="8610600" cy="519113"/>
          </a:xfrm>
          <a:extLst>
            <a:ext uri="{91240B29-F687-4f45-9708-019B960494DF}">
              <a14:hiddenLine xmlns:a14="http://schemas.microsoft.com/office/drawing/2010/main" xmlns="" w="9525" cap="flat" cmpd="sng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defRPr/>
            </a:pPr>
            <a:r>
              <a:rPr sz="2800" b="1" noProof="1">
                <a:solidFill>
                  <a:srgbClr val="007000"/>
                </a:solidFill>
                <a:latin typeface="Times New Roman" charset="0"/>
              </a:rPr>
              <a:t>Layered approach</a:t>
            </a:r>
            <a:endParaRPr lang="en-US" sz="2800" b="1">
              <a:solidFill>
                <a:srgbClr val="007000"/>
              </a:solidFill>
              <a:latin typeface="Times New Roman" charset="0"/>
            </a:endParaRPr>
          </a:p>
        </p:txBody>
      </p:sp>
      <p:sp>
        <p:nvSpPr>
          <p:cNvPr id="2048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703512" y="914400"/>
            <a:ext cx="4752528" cy="5029200"/>
          </a:xfrm>
        </p:spPr>
        <p:txBody>
          <a:bodyPr/>
          <a:lstStyle/>
          <a:p>
            <a:pPr marL="271463" indent="-271463" algn="just">
              <a:spcBef>
                <a:spcPts val="600"/>
              </a:spcBef>
              <a:defRPr/>
            </a:pPr>
            <a:r>
              <a:rPr sz="1800" noProof="1">
                <a:solidFill>
                  <a:srgbClr val="0000FF"/>
                </a:solidFill>
                <a:latin typeface="Times New Roman" charset="0"/>
              </a:rPr>
              <a:t>The OS is divided into a number of layers (levels), each built on top of lower layers.  The bottom layer (layer 0) is the hardware, and the highest (layer N) is the user interface.</a:t>
            </a:r>
          </a:p>
          <a:p>
            <a:pPr marL="271463" indent="-271463" algn="just">
              <a:spcBef>
                <a:spcPts val="600"/>
              </a:spcBef>
              <a:defRPr/>
            </a:pPr>
            <a:r>
              <a:rPr sz="1800" noProof="1">
                <a:solidFill>
                  <a:srgbClr val="0000FF"/>
                </a:solidFill>
                <a:latin typeface="Times New Roman" charset="0"/>
              </a:rPr>
              <a:t>With modularity, layers are selected such that each layer uses functions (operations) and services of only lower-level layers.</a:t>
            </a:r>
          </a:p>
          <a:p>
            <a:pPr marL="271463" indent="-271463" algn="just">
              <a:spcBef>
                <a:spcPts val="600"/>
              </a:spcBef>
              <a:defRPr/>
            </a:pPr>
            <a:r>
              <a:rPr sz="1800" noProof="1">
                <a:solidFill>
                  <a:srgbClr val="0000FF"/>
                </a:solidFill>
                <a:latin typeface="Times New Roman" charset="0"/>
              </a:rPr>
              <a:t>A layered design was first used in the THE (Technische Hogeschool Eindhoven) operating system.</a:t>
            </a:r>
          </a:p>
          <a:p>
            <a:pPr marL="271463" indent="-271463" algn="just">
              <a:spcBef>
                <a:spcPts val="600"/>
              </a:spcBef>
              <a:defRPr/>
            </a:pPr>
            <a:r>
              <a:rPr sz="1800" b="1" noProof="1">
                <a:solidFill>
                  <a:srgbClr val="0000FF"/>
                </a:solidFill>
                <a:latin typeface="Times New Roman" charset="0"/>
              </a:rPr>
              <a:t>Advantage:</a:t>
            </a:r>
            <a:r>
              <a:rPr sz="1800" noProof="1">
                <a:solidFill>
                  <a:srgbClr val="0000FF"/>
                </a:solidFill>
                <a:latin typeface="Times New Roman" charset="0"/>
              </a:rPr>
              <a:t> Modularity </a:t>
            </a:r>
            <a:r>
              <a:rPr sz="1800" noProof="1">
                <a:solidFill>
                  <a:srgbClr val="0000FF"/>
                </a:solidFill>
                <a:latin typeface="Times New Roman" charset="0"/>
                <a:sym typeface="Wingdings" charset="0"/>
              </a:rPr>
              <a:t></a:t>
            </a:r>
            <a:r>
              <a:rPr sz="1800" noProof="1">
                <a:solidFill>
                  <a:srgbClr val="0000FF"/>
                </a:solidFill>
                <a:latin typeface="Times New Roman" charset="0"/>
              </a:rPr>
              <a:t> easy to debug</a:t>
            </a:r>
          </a:p>
          <a:p>
            <a:pPr marL="271463" indent="-271463" algn="just">
              <a:spcBef>
                <a:spcPts val="600"/>
              </a:spcBef>
              <a:defRPr/>
            </a:pPr>
            <a:r>
              <a:rPr sz="1800" b="1" noProof="1">
                <a:solidFill>
                  <a:srgbClr val="0000FF"/>
                </a:solidFill>
                <a:latin typeface="Times New Roman" charset="0"/>
              </a:rPr>
              <a:t>Disadvantage:</a:t>
            </a:r>
            <a:r>
              <a:rPr sz="1800" noProof="1">
                <a:solidFill>
                  <a:srgbClr val="0000FF"/>
                </a:solidFill>
                <a:latin typeface="Times New Roman" charset="0"/>
              </a:rPr>
              <a:t> less efficient, hard to define level functionality.</a:t>
            </a:r>
            <a:endParaRPr lang="en-US" sz="1800" dirty="0">
              <a:solidFill>
                <a:srgbClr val="0000FF"/>
              </a:solidFill>
              <a:latin typeface="Times New Roman" charset="0"/>
            </a:endParaRPr>
          </a:p>
        </p:txBody>
      </p:sp>
      <p:graphicFrame>
        <p:nvGraphicFramePr>
          <p:cNvPr id="204864" name="Group 64"/>
          <p:cNvGraphicFramePr>
            <a:graphicFrameLocks noGrp="1"/>
          </p:cNvGraphicFramePr>
          <p:nvPr/>
        </p:nvGraphicFramePr>
        <p:xfrm>
          <a:off x="6744072" y="1412777"/>
          <a:ext cx="3581400" cy="2940055"/>
        </p:xfrm>
        <a:graphic>
          <a:graphicData uri="http://schemas.openxmlformats.org/drawingml/2006/table">
            <a:tbl>
              <a:tblPr/>
              <a:tblGrid>
                <a:gridCol w="3581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573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charset="0"/>
                        <a:buNone/>
                        <a:tabLst/>
                      </a:pPr>
                      <a:r>
                        <a:rPr kumimoji="0" sz="1800" b="0" i="0" u="none" strike="noStrike" cap="none" normalizeH="0" baseline="0" noProof="1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Layer 5:  User programs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marT="45709" marB="4570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056">
                <a:tc>
                  <a:txBody>
                    <a:bodyPr/>
                    <a:lstStyle/>
                    <a:p>
                      <a:pPr marL="958850" marR="0" lvl="0" indent="-9588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charset="0"/>
                        <a:buNone/>
                        <a:tabLst/>
                      </a:pPr>
                      <a:r>
                        <a:rPr kumimoji="0" sz="1800" b="0" i="0" u="none" strike="noStrike" cap="none" normalizeH="0" baseline="0" noProof="1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Layer 4:  Buffering for input and output devices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marT="45709" marB="4570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056">
                <a:tc>
                  <a:txBody>
                    <a:bodyPr/>
                    <a:lstStyle/>
                    <a:p>
                      <a:pPr marL="958850" marR="0" lvl="0" indent="-9588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charset="0"/>
                        <a:buNone/>
                        <a:tabLst/>
                      </a:pPr>
                      <a:r>
                        <a:rPr kumimoji="0" sz="1800" b="0" i="0" u="none" strike="noStrike" cap="none" normalizeH="0" baseline="0" noProof="1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Layer 3:  Operator-console device driver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marT="45709" marB="4570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50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charset="0"/>
                        <a:buNone/>
                        <a:tabLst/>
                      </a:pPr>
                      <a:r>
                        <a:rPr kumimoji="0" sz="1800" b="0" i="0" u="none" strike="noStrike" cap="none" normalizeH="0" baseline="0" noProof="1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Layer 2:  Memory management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marT="45709" marB="4570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34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charset="0"/>
                        <a:buNone/>
                        <a:tabLst/>
                      </a:pPr>
                      <a:r>
                        <a:rPr kumimoji="0" sz="1800" b="0" i="0" u="none" strike="noStrike" cap="none" normalizeH="0" baseline="0" noProof="1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Layer 1:  CPU scheduling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marT="45709" marB="4570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3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charset="0"/>
                        <a:buNone/>
                        <a:tabLst/>
                      </a:pPr>
                      <a:r>
                        <a:rPr kumimoji="0" sz="1800" b="0" i="0" u="none" strike="noStrike" cap="none" normalizeH="0" baseline="0" noProof="1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Layer 0:  Hardware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marT="45709" marB="4570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04860" name="Rectangle 60"/>
          <p:cNvSpPr>
            <a:spLocks noChangeArrowheads="1"/>
          </p:cNvSpPr>
          <p:nvPr/>
        </p:nvSpPr>
        <p:spPr bwMode="auto">
          <a:xfrm>
            <a:off x="7824192" y="980728"/>
            <a:ext cx="14478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 algn="just">
              <a:lnSpc>
                <a:spcPct val="90000"/>
              </a:lnSpc>
              <a:spcBef>
                <a:spcPct val="20000"/>
              </a:spcBef>
              <a:buClr>
                <a:schemeClr val="bg2"/>
              </a:buClr>
              <a:buSzPct val="65000"/>
              <a:defRPr/>
            </a:pPr>
            <a:r>
              <a:rPr sz="2000" noProof="1">
                <a:solidFill>
                  <a:srgbClr val="0000FF"/>
                </a:solidFill>
              </a:rPr>
              <a:t>Six layers</a:t>
            </a:r>
            <a:r>
              <a:rPr sz="2000" noProof="1">
                <a:solidFill>
                  <a:srgbClr val="0000FF"/>
                </a:solidFill>
                <a:latin typeface="Palatino" charset="0"/>
              </a:rPr>
              <a:t> </a:t>
            </a:r>
            <a:endParaRPr sz="2800" noProof="1">
              <a:solidFill>
                <a:srgbClr val="0000FF"/>
              </a:solidFill>
              <a:latin typeface="Palatino" charset="0"/>
            </a:endParaRP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chemeClr val="bg2"/>
              </a:buClr>
              <a:buSzPct val="65000"/>
              <a:buFont typeface="Wingdings" charset="0"/>
              <a:buChar char="­"/>
              <a:defRPr/>
            </a:pPr>
            <a:endParaRPr lang="en-US" sz="2800" dirty="0">
              <a:solidFill>
                <a:srgbClr val="0000FF"/>
              </a:solidFill>
              <a:latin typeface="Arial" charset="0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2445719-FC05-394E-BD2E-B6CBE4ACFA79}" type="slidenum">
              <a:rPr lang="en-AU"/>
              <a:pPr>
                <a:defRPr/>
              </a:pPr>
              <a:t>28</a:t>
            </a:fld>
            <a:endParaRPr lang="en-AU"/>
          </a:p>
        </p:txBody>
      </p:sp>
      <p:sp>
        <p:nvSpPr>
          <p:cNvPr id="382978" name="Rectangle 2"/>
          <p:cNvSpPr>
            <a:spLocks noGrp="1" noChangeArrowheads="1"/>
          </p:cNvSpPr>
          <p:nvPr>
            <p:ph type="title"/>
          </p:nvPr>
        </p:nvSpPr>
        <p:spPr>
          <a:xfrm>
            <a:off x="1631950" y="188913"/>
            <a:ext cx="8610600" cy="519112"/>
          </a:xfrm>
        </p:spPr>
        <p:txBody>
          <a:bodyPr/>
          <a:lstStyle/>
          <a:p>
            <a:pPr eaLnBrk="1" hangingPunct="1">
              <a:defRPr/>
            </a:pPr>
            <a:r>
              <a:rPr lang="en-AU" sz="2800" b="1">
                <a:solidFill>
                  <a:srgbClr val="007000"/>
                </a:solidFill>
                <a:latin typeface="Times New Roman" charset="0"/>
              </a:rPr>
              <a:t>Microkernel</a:t>
            </a:r>
          </a:p>
        </p:txBody>
      </p:sp>
      <p:sp>
        <p:nvSpPr>
          <p:cNvPr id="3829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774825" y="836614"/>
            <a:ext cx="8610600" cy="5184775"/>
          </a:xfrm>
        </p:spPr>
        <p:txBody>
          <a:bodyPr/>
          <a:lstStyle/>
          <a:p>
            <a:pPr marL="271463" indent="-271463">
              <a:spcBef>
                <a:spcPts val="0"/>
              </a:spcBef>
              <a:spcAft>
                <a:spcPts val="600"/>
              </a:spcAft>
              <a:defRPr/>
            </a:pPr>
            <a:r>
              <a:rPr lang="en-AU" sz="2000" dirty="0">
                <a:solidFill>
                  <a:srgbClr val="0000FF"/>
                </a:solidFill>
                <a:latin typeface="Times New Roman" charset="0"/>
              </a:rPr>
              <a:t>Smaller-sized kernel </a:t>
            </a:r>
            <a:r>
              <a:rPr lang="en-AU" sz="2000" dirty="0">
                <a:solidFill>
                  <a:srgbClr val="0000FF"/>
                </a:solidFill>
                <a:latin typeface="Times New Roman" charset="0"/>
                <a:sym typeface="Wingdings" charset="0"/>
              </a:rPr>
              <a:t> only provides minimal services such as process and memory management,</a:t>
            </a:r>
            <a:r>
              <a:rPr lang="en-AU" sz="2000" dirty="0">
                <a:solidFill>
                  <a:srgbClr val="0000FF"/>
                </a:solidFill>
                <a:latin typeface="Times New Roman" charset="0"/>
              </a:rPr>
              <a:t> and communication.</a:t>
            </a:r>
          </a:p>
          <a:p>
            <a:pPr marL="271463" indent="-271463">
              <a:spcBef>
                <a:spcPts val="0"/>
              </a:spcBef>
              <a:spcAft>
                <a:spcPts val="600"/>
              </a:spcAft>
              <a:defRPr/>
            </a:pPr>
            <a:r>
              <a:rPr lang="en-AU" sz="2000" dirty="0">
                <a:solidFill>
                  <a:srgbClr val="0000FF"/>
                </a:solidFill>
                <a:latin typeface="Times New Roman" charset="0"/>
              </a:rPr>
              <a:t>Put non-essential components of kernel as system/user programs</a:t>
            </a:r>
          </a:p>
          <a:p>
            <a:pPr marL="271463" indent="-271463">
              <a:spcBef>
                <a:spcPts val="0"/>
              </a:spcBef>
              <a:spcAft>
                <a:spcPts val="600"/>
              </a:spcAft>
              <a:defRPr/>
            </a:pPr>
            <a:r>
              <a:rPr lang="en-AU" sz="2000" dirty="0">
                <a:solidFill>
                  <a:srgbClr val="0000FF"/>
                </a:solidFill>
                <a:latin typeface="Times New Roman" charset="0"/>
              </a:rPr>
              <a:t>Kernel function: as a communication facility between a client and the OS services using message passing.</a:t>
            </a:r>
          </a:p>
          <a:p>
            <a:pPr marL="0">
              <a:spcBef>
                <a:spcPts val="0"/>
              </a:spcBef>
              <a:spcAft>
                <a:spcPts val="600"/>
              </a:spcAft>
              <a:buNone/>
              <a:defRPr/>
            </a:pPr>
            <a:r>
              <a:rPr lang="en-AU" sz="2000" b="1" u="sng" dirty="0">
                <a:solidFill>
                  <a:srgbClr val="0000FF"/>
                </a:solidFill>
                <a:latin typeface="Times New Roman" charset="0"/>
              </a:rPr>
              <a:t>Advantages:</a:t>
            </a:r>
          </a:p>
          <a:p>
            <a:pPr marL="355600" indent="-355600">
              <a:spcBef>
                <a:spcPts val="0"/>
              </a:spcBef>
              <a:spcAft>
                <a:spcPts val="600"/>
              </a:spcAft>
              <a:defRPr/>
            </a:pPr>
            <a:r>
              <a:rPr lang="en-AU" sz="2000" dirty="0">
                <a:solidFill>
                  <a:srgbClr val="0000FF"/>
                </a:solidFill>
                <a:latin typeface="Times New Roman" charset="0"/>
              </a:rPr>
              <a:t>Easier to extend OS</a:t>
            </a:r>
          </a:p>
          <a:p>
            <a:pPr marL="355600" indent="-355600">
              <a:spcBef>
                <a:spcPts val="0"/>
              </a:spcBef>
              <a:spcAft>
                <a:spcPts val="600"/>
              </a:spcAft>
              <a:defRPr/>
            </a:pPr>
            <a:r>
              <a:rPr lang="en-AU" sz="2000" dirty="0">
                <a:solidFill>
                  <a:srgbClr val="0000FF"/>
                </a:solidFill>
                <a:latin typeface="Times New Roman" charset="0"/>
              </a:rPr>
              <a:t>More portable</a:t>
            </a:r>
          </a:p>
          <a:p>
            <a:pPr marL="355600" indent="-355600">
              <a:spcBef>
                <a:spcPts val="0"/>
              </a:spcBef>
              <a:spcAft>
                <a:spcPts val="600"/>
              </a:spcAft>
              <a:defRPr/>
            </a:pPr>
            <a:r>
              <a:rPr lang="en-AU" sz="2000" dirty="0">
                <a:solidFill>
                  <a:srgbClr val="0000FF"/>
                </a:solidFill>
                <a:latin typeface="Times New Roman" charset="0"/>
              </a:rPr>
              <a:t>Better security and reliability</a:t>
            </a:r>
          </a:p>
          <a:p>
            <a:pPr marL="0">
              <a:spcBef>
                <a:spcPts val="0"/>
              </a:spcBef>
              <a:spcAft>
                <a:spcPts val="600"/>
              </a:spcAft>
              <a:buNone/>
              <a:defRPr/>
            </a:pPr>
            <a:r>
              <a:rPr lang="en-AU" sz="2000" b="1" u="sng" dirty="0">
                <a:solidFill>
                  <a:srgbClr val="0000FF"/>
                </a:solidFill>
                <a:latin typeface="Times New Roman" charset="0"/>
              </a:rPr>
              <a:t>Disadvantages:</a:t>
            </a:r>
          </a:p>
          <a:p>
            <a:pPr marL="355600" indent="-355600">
              <a:spcBef>
                <a:spcPts val="0"/>
              </a:spcBef>
              <a:spcAft>
                <a:spcPts val="600"/>
              </a:spcAft>
              <a:defRPr/>
            </a:pPr>
            <a:r>
              <a:rPr lang="en-AU" sz="2000" dirty="0">
                <a:solidFill>
                  <a:srgbClr val="0000FF"/>
                </a:solidFill>
                <a:latin typeface="Times New Roman" charset="0"/>
              </a:rPr>
              <a:t>Using message passing increases system function overhead </a:t>
            </a:r>
            <a:r>
              <a:rPr lang="en-AU" sz="2000" dirty="0">
                <a:solidFill>
                  <a:srgbClr val="0000FF"/>
                </a:solidFill>
                <a:latin typeface="Times New Roman" charset="0"/>
                <a:sym typeface="Wingdings" charset="0"/>
              </a:rPr>
              <a:t> reduce performance</a:t>
            </a:r>
          </a:p>
          <a:p>
            <a:pPr marL="0">
              <a:spcBef>
                <a:spcPts val="0"/>
              </a:spcBef>
              <a:spcAft>
                <a:spcPts val="600"/>
              </a:spcAft>
              <a:buNone/>
              <a:defRPr/>
            </a:pPr>
            <a:endParaRPr lang="en-AU" sz="2000" dirty="0">
              <a:solidFill>
                <a:srgbClr val="0000FF"/>
              </a:solidFill>
              <a:latin typeface="Times New Roman" charset="0"/>
              <a:sym typeface="Wingdings" charset="0"/>
            </a:endParaRPr>
          </a:p>
          <a:p>
            <a:pPr marL="0">
              <a:spcBef>
                <a:spcPts val="0"/>
              </a:spcBef>
              <a:spcAft>
                <a:spcPts val="600"/>
              </a:spcAft>
              <a:buNone/>
              <a:defRPr/>
            </a:pPr>
            <a:r>
              <a:rPr lang="en-AU" sz="2000" b="1" u="sng" dirty="0">
                <a:solidFill>
                  <a:srgbClr val="0000FF"/>
                </a:solidFill>
                <a:latin typeface="Times New Roman" charset="0"/>
                <a:sym typeface="Wingdings" charset="0"/>
              </a:rPr>
              <a:t>Examples:</a:t>
            </a:r>
            <a:r>
              <a:rPr lang="en-AU" sz="2000" dirty="0">
                <a:solidFill>
                  <a:srgbClr val="0000FF"/>
                </a:solidFill>
                <a:latin typeface="Times New Roman" charset="0"/>
                <a:sym typeface="Wingdings" charset="0"/>
              </a:rPr>
              <a:t> Mach (CMU), Mac OS X kernel (Darwin), Digital Unix, </a:t>
            </a:r>
            <a:endParaRPr lang="en-AU" sz="2000" dirty="0">
              <a:solidFill>
                <a:srgbClr val="0000FF"/>
              </a:solidFill>
              <a:latin typeface="Times New Roman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29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3829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29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" dur="500"/>
                                        <p:tgtEl>
                                          <p:spTgt spid="3829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29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3" dur="500"/>
                                        <p:tgtEl>
                                          <p:spTgt spid="3829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297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6" dur="500"/>
                                        <p:tgtEl>
                                          <p:spTgt spid="38297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297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1" dur="500"/>
                                        <p:tgtEl>
                                          <p:spTgt spid="38297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297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4" dur="500"/>
                                        <p:tgtEl>
                                          <p:spTgt spid="38297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297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38297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6A2C801-11DF-FC40-8C48-1588A21A3F06}" type="slidenum">
              <a:rPr lang="en-AU"/>
              <a:pPr>
                <a:defRPr/>
              </a:pPr>
              <a:t>29</a:t>
            </a:fld>
            <a:endParaRPr lang="en-AU"/>
          </a:p>
        </p:txBody>
      </p:sp>
      <p:sp>
        <p:nvSpPr>
          <p:cNvPr id="381954" name="Rectangle 2"/>
          <p:cNvSpPr>
            <a:spLocks noGrp="1" noChangeArrowheads="1"/>
          </p:cNvSpPr>
          <p:nvPr>
            <p:ph type="title"/>
          </p:nvPr>
        </p:nvSpPr>
        <p:spPr>
          <a:xfrm>
            <a:off x="1703388" y="115888"/>
            <a:ext cx="8610600" cy="519112"/>
          </a:xfrm>
        </p:spPr>
        <p:txBody>
          <a:bodyPr/>
          <a:lstStyle/>
          <a:p>
            <a:pPr eaLnBrk="1" hangingPunct="1">
              <a:defRPr/>
            </a:pPr>
            <a:r>
              <a:rPr lang="en-AU" sz="2800" b="1">
                <a:solidFill>
                  <a:srgbClr val="007000"/>
                </a:solidFill>
                <a:latin typeface="Times New Roman" charset="0"/>
              </a:rPr>
              <a:t>Modules</a:t>
            </a:r>
          </a:p>
        </p:txBody>
      </p:sp>
      <p:sp>
        <p:nvSpPr>
          <p:cNvPr id="3819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752600" y="765176"/>
            <a:ext cx="8610600" cy="5330825"/>
          </a:xfrm>
        </p:spPr>
        <p:txBody>
          <a:bodyPr/>
          <a:lstStyle/>
          <a:p>
            <a:pPr eaLnBrk="1" hangingPunct="1">
              <a:defRPr/>
            </a:pPr>
            <a:r>
              <a:rPr lang="en-AU" sz="2000" dirty="0">
                <a:solidFill>
                  <a:srgbClr val="0000FF"/>
                </a:solidFill>
                <a:latin typeface="Times New Roman" charset="0"/>
              </a:rPr>
              <a:t>Modular kernel - current method </a:t>
            </a:r>
          </a:p>
          <a:p>
            <a:pPr lvl="1" eaLnBrk="1" hangingPunct="1">
              <a:defRPr/>
            </a:pPr>
            <a:r>
              <a:rPr lang="en-AU" sz="1600" dirty="0">
                <a:solidFill>
                  <a:srgbClr val="0000FF"/>
                </a:solidFill>
                <a:latin typeface="Times New Roman" charset="0"/>
              </a:rPr>
              <a:t>Use Object-oriented programming techniques</a:t>
            </a:r>
          </a:p>
          <a:p>
            <a:pPr eaLnBrk="1" hangingPunct="1">
              <a:defRPr/>
            </a:pPr>
            <a:r>
              <a:rPr lang="en-AU" sz="2000" dirty="0">
                <a:solidFill>
                  <a:srgbClr val="0000FF"/>
                </a:solidFill>
                <a:latin typeface="Times New Roman" charset="0"/>
              </a:rPr>
              <a:t>Kernel has a set of core components.</a:t>
            </a:r>
          </a:p>
          <a:p>
            <a:pPr eaLnBrk="1" hangingPunct="1">
              <a:defRPr/>
            </a:pPr>
            <a:r>
              <a:rPr lang="en-AU" sz="2000" dirty="0">
                <a:solidFill>
                  <a:srgbClr val="0000FF"/>
                </a:solidFill>
                <a:latin typeface="Times New Roman" charset="0"/>
              </a:rPr>
              <a:t>Add additional modules (e.g., Scheduling, device drivers, file systems) during boot/run time to kernel.</a:t>
            </a:r>
          </a:p>
          <a:p>
            <a:pPr eaLnBrk="1" hangingPunct="1">
              <a:defRPr/>
            </a:pPr>
            <a:r>
              <a:rPr lang="en-AU" sz="2000" dirty="0">
                <a:solidFill>
                  <a:srgbClr val="0000FF"/>
                </a:solidFill>
                <a:latin typeface="Times New Roman" charset="0"/>
              </a:rPr>
              <a:t>Like a layered system but more flexible </a:t>
            </a:r>
            <a:endParaRPr lang="en-AU" sz="2000" dirty="0">
              <a:solidFill>
                <a:srgbClr val="0000FF"/>
              </a:solidFill>
              <a:latin typeface="Times New Roman" charset="0"/>
              <a:sym typeface="Wingdings"/>
            </a:endParaRPr>
          </a:p>
          <a:p>
            <a:pPr lvl="1" eaLnBrk="1" hangingPunct="1">
              <a:defRPr/>
            </a:pPr>
            <a:r>
              <a:rPr lang="en-AU" sz="1600" dirty="0">
                <a:solidFill>
                  <a:srgbClr val="0000FF"/>
                </a:solidFill>
                <a:latin typeface="Times New Roman" charset="0"/>
                <a:sym typeface="Wingdings"/>
              </a:rPr>
              <a:t>Any module can call any other module</a:t>
            </a:r>
            <a:endParaRPr lang="en-AU" sz="1600" dirty="0">
              <a:solidFill>
                <a:srgbClr val="0000FF"/>
              </a:solidFill>
              <a:latin typeface="Times New Roman" charset="0"/>
            </a:endParaRPr>
          </a:p>
          <a:p>
            <a:pPr eaLnBrk="1" hangingPunct="1">
              <a:defRPr/>
            </a:pPr>
            <a:r>
              <a:rPr lang="en-AU" sz="2000" dirty="0">
                <a:solidFill>
                  <a:srgbClr val="0000FF"/>
                </a:solidFill>
                <a:latin typeface="Times New Roman" charset="0"/>
              </a:rPr>
              <a:t>Like a microkernel but more efficient </a:t>
            </a:r>
            <a:endParaRPr lang="en-AU" sz="2000" dirty="0">
              <a:solidFill>
                <a:srgbClr val="0000FF"/>
              </a:solidFill>
              <a:latin typeface="Times New Roman" charset="0"/>
              <a:sym typeface="Wingdings"/>
            </a:endParaRPr>
          </a:p>
          <a:p>
            <a:pPr lvl="1" eaLnBrk="1" hangingPunct="1">
              <a:defRPr/>
            </a:pPr>
            <a:r>
              <a:rPr lang="en-AU" sz="1600" dirty="0">
                <a:solidFill>
                  <a:srgbClr val="0000FF"/>
                </a:solidFill>
                <a:latin typeface="Times New Roman" charset="0"/>
                <a:sym typeface="Wingdings"/>
              </a:rPr>
              <a:t>Modules do not need message passing</a:t>
            </a:r>
            <a:endParaRPr lang="en-AU" sz="1600" dirty="0">
              <a:solidFill>
                <a:srgbClr val="0000FF"/>
              </a:solidFill>
              <a:latin typeface="Times New Roman" charset="0"/>
            </a:endParaRPr>
          </a:p>
          <a:p>
            <a:pPr eaLnBrk="1" hangingPunct="1">
              <a:buFont typeface="Wingdings" charset="0"/>
              <a:buNone/>
              <a:defRPr/>
            </a:pPr>
            <a:endParaRPr lang="en-AU" sz="2000" dirty="0">
              <a:solidFill>
                <a:srgbClr val="0000FF"/>
              </a:solidFill>
              <a:latin typeface="Times New Roman" charset="0"/>
            </a:endParaRPr>
          </a:p>
          <a:p>
            <a:pPr eaLnBrk="1" hangingPunct="1">
              <a:buFont typeface="Wingdings" charset="0"/>
              <a:buNone/>
              <a:defRPr/>
            </a:pPr>
            <a:r>
              <a:rPr lang="en-AU" sz="2000" b="1" u="sng" dirty="0">
                <a:solidFill>
                  <a:srgbClr val="0000FF"/>
                </a:solidFill>
                <a:latin typeface="Times New Roman" charset="0"/>
              </a:rPr>
              <a:t>Examples:</a:t>
            </a:r>
            <a:r>
              <a:rPr lang="en-AU" sz="2000" dirty="0">
                <a:solidFill>
                  <a:srgbClr val="0000FF"/>
                </a:solidFill>
                <a:latin typeface="Times New Roman" charset="0"/>
                <a:sym typeface="Wingdings" charset="0"/>
              </a:rPr>
              <a:t> Solaris, Linux, Mac OS X.</a:t>
            </a:r>
            <a:r>
              <a:rPr lang="en-AU" sz="2000" dirty="0">
                <a:solidFill>
                  <a:srgbClr val="0000FF"/>
                </a:solidFill>
                <a:latin typeface="Times New Roman" charset="0"/>
              </a:rPr>
              <a:t>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1337832b-e06e-4e87-85f5-ecfde68f9c8e}" enabled="1" method="Standard" siteId="{44e3cf94-19c9-4e32-96c3-14f5bf01391a}" contentBits="1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2828</Words>
  <Application>Microsoft Office PowerPoint</Application>
  <PresentationFormat>Widescreen</PresentationFormat>
  <Paragraphs>362</Paragraphs>
  <Slides>29</Slides>
  <Notes>28</Notes>
  <HiddenSlides>0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8" baseType="lpstr">
      <vt:lpstr>Aptos</vt:lpstr>
      <vt:lpstr>Aptos Display</vt:lpstr>
      <vt:lpstr>Arial</vt:lpstr>
      <vt:lpstr>Lucida Grande</vt:lpstr>
      <vt:lpstr>Palatino</vt:lpstr>
      <vt:lpstr>Times New Roman</vt:lpstr>
      <vt:lpstr>Wingdings</vt:lpstr>
      <vt:lpstr>Office Theme</vt:lpstr>
      <vt:lpstr>Document</vt:lpstr>
      <vt:lpstr>SE2042 Operating Systems Lecture 02</vt:lpstr>
      <vt:lpstr>Direct memory access (DMA)</vt:lpstr>
      <vt:lpstr>DMA (cont.)</vt:lpstr>
      <vt:lpstr>Steps in DMA Transfer  Fig. 13.5  (textbook)</vt:lpstr>
      <vt:lpstr>Computer-System Architecture</vt:lpstr>
      <vt:lpstr>Multiprocessor (cont. )</vt:lpstr>
      <vt:lpstr>Multiprocessor (cont.)</vt:lpstr>
      <vt:lpstr>Multiprocessor Systems (cont. )</vt:lpstr>
      <vt:lpstr>Multiprocessor Systems (cont. )</vt:lpstr>
      <vt:lpstr>Clustered Systems</vt:lpstr>
      <vt:lpstr>Multiprogramming</vt:lpstr>
      <vt:lpstr>Time-Sharing/Multitasking Systems </vt:lpstr>
      <vt:lpstr>Real-time Systems</vt:lpstr>
      <vt:lpstr>Virtualization</vt:lpstr>
      <vt:lpstr>OS Operation</vt:lpstr>
      <vt:lpstr>OS Operation (cont.)</vt:lpstr>
      <vt:lpstr>OS Operation (cont.)</vt:lpstr>
      <vt:lpstr>OS Operation (cont.)</vt:lpstr>
      <vt:lpstr>OS Operation (cont.)</vt:lpstr>
      <vt:lpstr>System Calls</vt:lpstr>
      <vt:lpstr>System Calls (cont. )</vt:lpstr>
      <vt:lpstr>System Calls (cont. )</vt:lpstr>
      <vt:lpstr>System programs or utilities</vt:lpstr>
      <vt:lpstr>OS Structures</vt:lpstr>
      <vt:lpstr>Simple Structure</vt:lpstr>
      <vt:lpstr>UNIX system structure</vt:lpstr>
      <vt:lpstr>Layered approach</vt:lpstr>
      <vt:lpstr>Microkernel</vt:lpstr>
      <vt:lpstr>Modules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Samantha Rajapaksha</dc:creator>
  <cp:lastModifiedBy>Samantha Rajapaksha</cp:lastModifiedBy>
  <cp:revision>2</cp:revision>
  <dcterms:created xsi:type="dcterms:W3CDTF">2026-01-26T06:36:22Z</dcterms:created>
  <dcterms:modified xsi:type="dcterms:W3CDTF">2026-01-26T06:38:55Z</dcterms:modified>
</cp:coreProperties>
</file>