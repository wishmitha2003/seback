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21:04:02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3594 2116 24575,'510'0'0,"-493"0"0,1 0 0,-1-2 0,0 0 0,-1-1 0,1 0 0,0-1 0,-1-1 0,20-10 0,-25 10 0,-1-1 0,0 0 0,0-1 0,0 0 0,-1-1 0,0 0 0,-1 0 0,0-1 0,0 0 0,-1 0 0,0-1 0,9-16 0,12-23 0,-12 22 0,0-1 0,-2-1 0,-1 0 0,-1-1 0,10-41 0,-13 18 0,-3 1 0,-2-2 0,-2 1 0,-10-103 0,7 151 0,0-1 0,0 1 0,-1 0 0,0-1 0,0 1 0,0 0 0,0 0 0,-1 0 0,0 1 0,0-1 0,0 1 0,0-1 0,-1 1 0,0 0 0,-5-5 0,-7-3 0,0 1 0,0 0 0,-19-9 0,-24-16 0,-27-23 0,-101-50 0,158 93 0,-54-30 0,-184-114 0,211 122 0,-44-35 0,56 41 0,-1 1 0,-2 2 0,-1 2 0,-74-29 0,84 39 0,-263-130 0,199 94 0,30 15 0,-149-57 0,91 45 0,95 35 0,0 1 0,0 2 0,-2 1 0,1 1 0,-2 3 0,-45-4 0,-507 9 0,282 5 0,208-6 0,52 1 0,0 1 0,1 3 0,-63 9 0,-15 25 0,17-3 0,58-19 0,0 1 0,-78 37 0,110-43 0,1 1 0,0 1 0,1 0 0,0 2 0,1 0 0,0 0 0,-20 25 0,16-15 0,2 1 0,0 1 0,2 0 0,-19 40 0,18-23 0,2-1 0,2 2 0,1 0 0,-6 56 0,-13 26-1365,26-97-5461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21:04:05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24575,'0'18'0,"1"-1"0,1 1 0,0 0 0,1-1 0,1 0 0,0 0 0,13 31 0,-14-42 0,1 1 0,-1 0 0,1-1 0,1 1 0,-1-1 0,1 0 0,0-1 0,0 1 0,1-1 0,-1 0 0,1 0 0,0-1 0,1 0 0,-1 0 0,1 0 0,0-1 0,0 0 0,0 0 0,0-1 0,13 3 0,-8-3 0,0 0 0,0 0 0,0-2 0,1 1 0,-1-2 0,0 0 0,1 0 0,-1-1 0,0 0 0,22-8 0,-21 4 0,1-1 0,-1 0 0,-1-1 0,1 0 0,-1-1 0,-1 0 0,0-1 0,17-19 0,46-54-1365,-60 64-5461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21:04:12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5424 5007 24575,'390'-20'0,"-80"2"0,-187 10 0,175-36 0,-252 36 0,5-1 0,-9 3 0,0-2 0,0-2 0,68-25 0,228-121 0,-175 89 0,-34 15 0,255-105 0,-29 42 0,-294 91 0,-1-4 0,-1-2 0,-1-2 0,-2-3 0,-2-3 0,68-60 0,-42 24 0,-3-3 0,-3-4 0,66-95 0,-84 93 0,-4-1 0,-4-3 0,-3-2 0,42-122 0,-76 178 0,-2-1 0,-1 0 0,-2 0 0,-1-1 0,0-49 0,-14-174 0,8 245 0,-13-99 0,-5 1 0,-55-177 0,55 220 0,-15-42 0,-5 1 0,-54-105 0,-128-193 0,181 343 0,-2 1 0,-3 3 0,-2 1 0,-3 3 0,-3 2 0,-1 2 0,-3 2 0,-97-63 0,-138-95 0,220 158 0,-2 4 0,-84-40 0,116 64 0,-2 1 0,0 2 0,-1 2 0,-1 2 0,0 2 0,-1 2 0,-1 2 0,0 3 0,-62-2 0,36 8 0,-356 6 0,71 42 0,231-27 0,-86 16 0,-125 17 0,193-33 0,0 8 0,2 5 0,2 7 0,1 6 0,3 6 0,2 5 0,3 7 0,-207 135 0,155-67 0,-76 49 0,215-155 0,0-1 0,-2-2 0,-95 32 0,105-47 0,-1-3 0,0-1 0,0-2 0,-1-1 0,-77-8 0,5 1 0,-148 7 0,-177-5 0,352-6 0,-102-23 0,-10-2 0,67 13 0,-149-45 0,228 54 0,0 2 0,0 3 0,-1 1 0,0 4 0,0 1 0,-58 7 0,-3 12 0,71-10 0,-74 6 0,94-14 0,-16 1 0,-46 7 0,70-6 0,0 1 0,0 1 0,0 0 0,0 1 0,1 1 0,-22 12 0,-7 8 0,22-13 0,-1 0 0,0-1 0,-1-2 0,0 0 0,-38 11 0,51-19 0,0 1 0,0 0 0,0 1 0,1 0 0,-1 0 0,1 1 0,0 0 0,0 1 0,1 0 0,0 0 0,0 0 0,0 1 0,-6 7 0,12-13 0,-6 7-80,-2 0 0,1-1-1,-1 0 1,0 0 0,0-1-1,-1 0 1,0-1 0,0 0-1,0 0 1,-1-1 0,1-1 0,-1 0-1,0 0 1,0-1 0,0 0-1,-21 0 1,-1-1-6746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21:11:11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1 115 24575,'0'271'0,"1"-287"0,1 0 0,0 0 0,5-17 0,4-23 0,5-154-9443,-15 171 10695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21:11:57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24575,'-1'100'0,"3"112"0,-1-208 0,-1 0 0,1 0 0,0 0 0,0 0 0,0 0 0,1 0 0,-1-1 0,1 1 0,0-1 0,0 1 0,0-1 0,1 1 0,-1-1 0,1 0 0,0 0 0,0-1 0,0 1 0,0 0 0,0-1 0,0 0 0,1 0 0,-1 0 0,1 0 0,-1 0 0,1-1 0,0 1 0,0-1 0,0 0 0,0 0 0,5 0 0,14 2 0,0-2 0,0 0 0,1-1 0,27-4 0,-8 1 0,8-1-682,96-19-1,-113 16-6143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5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9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1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2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6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5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1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7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5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White structure">
            <a:extLst>
              <a:ext uri="{FF2B5EF4-FFF2-40B4-BE49-F238E27FC236}">
                <a16:creationId xmlns:a16="http://schemas.microsoft.com/office/drawing/2014/main" id="{6737322D-CE1B-9A8D-EDAB-B24FA071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4" b="2268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48071-A95B-3588-3E50-33BB49503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/>
              <a:t>BNF vs EBNF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4483D-707B-2434-8C8E-B95DFBFBC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14973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2B014-D81D-C340-BC5F-37B1E7F8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9F0B7-D680-C3D5-0DA2-25BD7E81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1290007"/>
          </a:xfrm>
        </p:spPr>
        <p:txBody>
          <a:bodyPr>
            <a:normAutofit/>
          </a:bodyPr>
          <a:lstStyle/>
          <a:p>
            <a:r>
              <a:rPr lang="en-US" sz="1800" dirty="0"/>
              <a:t>IF statement structure: </a:t>
            </a:r>
          </a:p>
          <a:p>
            <a:r>
              <a:rPr lang="en-US" sz="1800" dirty="0"/>
              <a:t>&lt;statement&gt; ::= "if" "(" &lt;condition&gt; ")" "{" &lt;body&gt; "}“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67D750-E02F-9AF3-4DD0-980CE33E1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64" y="3717501"/>
            <a:ext cx="6623756" cy="22753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E93D67-E432-50F7-25B2-57716A495262}"/>
                  </a:ext>
                </a:extLst>
              </p14:cNvPr>
              <p14:cNvContentPartPr/>
              <p14:nvPr/>
            </p14:nvContentPartPr>
            <p14:xfrm>
              <a:off x="4417532" y="3542483"/>
              <a:ext cx="1634400" cy="762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E93D67-E432-50F7-25B2-57716A4952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1412" y="3536363"/>
                <a:ext cx="1646640" cy="77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764EFB0-9C29-4F23-6E1B-23612A2A19E9}"/>
                  </a:ext>
                </a:extLst>
              </p14:cNvPr>
              <p14:cNvContentPartPr/>
              <p14:nvPr/>
            </p14:nvContentPartPr>
            <p14:xfrm>
              <a:off x="4374692" y="3727163"/>
              <a:ext cx="192240" cy="101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764EFB0-9C29-4F23-6E1B-23612A2A19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68572" y="3721043"/>
                <a:ext cx="2044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3DB025F-B8F0-DD01-18DD-0C3590A56AFA}"/>
                  </a:ext>
                </a:extLst>
              </p14:cNvPr>
              <p14:cNvContentPartPr/>
              <p14:nvPr/>
            </p14:nvContentPartPr>
            <p14:xfrm>
              <a:off x="4630652" y="3331883"/>
              <a:ext cx="3391200" cy="1802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3DB025F-B8F0-DD01-18DD-0C3590A56A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4532" y="3325763"/>
                <a:ext cx="3403440" cy="18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466DF3-1A56-7AC4-BA77-0CD26D05851A}"/>
                  </a:ext>
                </a:extLst>
              </p14:cNvPr>
              <p14:cNvContentPartPr/>
              <p14:nvPr/>
            </p14:nvContentPartPr>
            <p14:xfrm>
              <a:off x="4613732" y="3672443"/>
              <a:ext cx="14760" cy="139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466DF3-1A56-7AC4-BA77-0CD26D0585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07612" y="3666323"/>
                <a:ext cx="270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ED3C156-BC4C-9513-A606-0BEE9289BBD6}"/>
                  </a:ext>
                </a:extLst>
              </p14:cNvPr>
              <p14:cNvContentPartPr/>
              <p14:nvPr/>
            </p14:nvContentPartPr>
            <p14:xfrm>
              <a:off x="4627052" y="3699083"/>
              <a:ext cx="182520" cy="145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ED3C156-BC4C-9513-A606-0BEE9289BB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0932" y="3692963"/>
                <a:ext cx="194760" cy="15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794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9632-3672-C660-02CB-CD1876983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11200518" cy="4870457"/>
          </a:xfrm>
        </p:spPr>
        <p:txBody>
          <a:bodyPr>
            <a:normAutofit/>
          </a:bodyPr>
          <a:lstStyle/>
          <a:p>
            <a:r>
              <a:rPr lang="en-US" sz="2400" u="sng" dirty="0"/>
              <a:t>Expanding it to if-else statement: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&lt;statement&gt; ::= "if" "(" &lt;condition&gt; ")" "{" &lt;body&gt; "}" &lt;</a:t>
            </a:r>
            <a:r>
              <a:rPr lang="en-US" sz="2400" dirty="0" err="1"/>
              <a:t>optional_else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&lt;</a:t>
            </a:r>
            <a:r>
              <a:rPr lang="en-US" sz="2400" dirty="0" err="1"/>
              <a:t>optional_else</a:t>
            </a:r>
            <a:r>
              <a:rPr lang="en-US" sz="2400" dirty="0"/>
              <a:t>&gt; ::= "else" "{" &lt;body&gt; "}" | ε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Note : </a:t>
            </a:r>
            <a:r>
              <a:rPr lang="en-US" sz="2400" dirty="0" err="1"/>
              <a:t>Eepsilon</a:t>
            </a:r>
            <a:r>
              <a:rPr lang="en-US" sz="2400" dirty="0"/>
              <a:t> represents an empty production (i.e., nothing), which simulates the optional behavior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Standard BNF does not support optional elements directly; everything must be explicitly defined using separate rules.</a:t>
            </a:r>
          </a:p>
        </p:txBody>
      </p:sp>
    </p:spTree>
    <p:extLst>
      <p:ext uri="{BB962C8B-B14F-4D97-AF65-F5344CB8AC3E}">
        <p14:creationId xmlns:p14="http://schemas.microsoft.com/office/powerpoint/2010/main" val="149118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A4511-F4C9-09D5-DB4B-25DD2B6E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EBNF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70020-EE17-7F25-BCE4-5F8BA4E0E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894" y="1786597"/>
            <a:ext cx="9942078" cy="3854749"/>
          </a:xfrm>
        </p:spPr>
        <p:txBody>
          <a:bodyPr>
            <a:normAutofit/>
          </a:bodyPr>
          <a:lstStyle/>
          <a:p>
            <a:r>
              <a:rPr lang="en-US" b="1" dirty="0"/>
              <a:t>Extended Backus-Naur Form (EBNF)</a:t>
            </a:r>
            <a:r>
              <a:rPr lang="en-US" dirty="0"/>
              <a:t> is an improved version of </a:t>
            </a:r>
            <a:r>
              <a:rPr lang="en-US" b="1" dirty="0"/>
              <a:t>Backus-Naur Form (BNF)</a:t>
            </a:r>
            <a:r>
              <a:rPr lang="en-US" dirty="0"/>
              <a:t> used to describe the syntax of programming languages in a more </a:t>
            </a:r>
            <a:r>
              <a:rPr lang="en-US" b="1" dirty="0"/>
              <a:t>concise and readable</a:t>
            </a:r>
            <a:r>
              <a:rPr lang="en-US" dirty="0"/>
              <a:t> way. It introduces additional symbols to make grammar definitions easier to write and understand.</a:t>
            </a:r>
          </a:p>
          <a:p>
            <a:endParaRPr lang="en-US" dirty="0"/>
          </a:p>
          <a:p>
            <a:r>
              <a:rPr lang="en-US" dirty="0"/>
              <a:t>EBNF extends BNF by: </a:t>
            </a:r>
          </a:p>
          <a:p>
            <a:r>
              <a:rPr lang="en-US" dirty="0"/>
              <a:t>✅ </a:t>
            </a:r>
            <a:r>
              <a:rPr lang="en-US" b="1" dirty="0"/>
              <a:t>Making rules more compact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Adding optional elements</a:t>
            </a:r>
            <a:r>
              <a:rPr lang="en-US" dirty="0"/>
              <a:t> (without requiring extra rules)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Allowing repetition without recursion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More concise syntax. Hence, improved readability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8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629DA7A-2311-55E4-8910-3C7BEA285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1937" y="820580"/>
            <a:ext cx="1073628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Features of EBNF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1)Allow optional parts </a:t>
            </a:r>
            <a:r>
              <a:rPr lang="en-US" altLang="en-US" sz="1800" b="0" dirty="0">
                <a:latin typeface="Arial" panose="020B0604020202020204" pitchFamily="34" charset="0"/>
              </a:rPr>
              <a:t>directly. Square brackets [ ... ] indicate optional parts. The else block is optional below.</a:t>
            </a:r>
          </a:p>
          <a:p>
            <a:pPr eaLnBrk="0" fontAlgn="base" hangingPunct="0">
              <a:spcAft>
                <a:spcPct val="0"/>
              </a:spcAft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&lt;if-statement&gt; ::= "if" "(" &lt;condition&gt; ")" "{" &lt;body&gt; "}" [ "else" "{" &lt;body&gt; "}" 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2) Repetition using curly braces. Following mean a number consists of at least one digit, followed by zero or more digits 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&lt;number&gt; ::= &lt;digit&gt; { &lt;digit&gt; 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3) Parentheses are used to group elements.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&lt;term&gt; ::= &lt;factor&gt; (("*" | "/") &lt;factor&gt;)*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lang="en-US" altLang="en-US" sz="1800" b="0" dirty="0">
                <a:latin typeface="Arial" panose="020B0604020202020204" pitchFamily="34" charset="0"/>
              </a:rPr>
              <a:t>A &lt;term&gt; is a &lt;factor&gt; followed by zero or more occurrences of "*" or "/" with another &lt;factor&gt;.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3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164B-298D-EB5C-0F8E-D1BC70A8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894" y="682986"/>
            <a:ext cx="8934212" cy="29324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u="sng" dirty="0"/>
              <a:t>BNF</a:t>
            </a:r>
            <a:br>
              <a:rPr lang="en-US" sz="2000" dirty="0"/>
            </a:br>
            <a:r>
              <a:rPr lang="en-US" sz="2000" b="0" dirty="0"/>
              <a:t>&lt;expression&gt; ::= &lt;term&gt; | &lt;expression&gt; + &lt;term&gt; | &lt;expression&gt; - &lt;term&gt;</a:t>
            </a:r>
            <a:br>
              <a:rPr lang="en-US" sz="2000" b="0" dirty="0"/>
            </a:br>
            <a:r>
              <a:rPr lang="en-US" sz="2000" b="0" dirty="0"/>
              <a:t>&lt;term&gt; ::= &lt;factor&gt; | &lt;term&gt; * &lt;factor&gt; | &lt;term&gt; / &lt;factor&gt;</a:t>
            </a:r>
            <a:br>
              <a:rPr lang="en-US" sz="2000" b="0" dirty="0"/>
            </a:br>
            <a:r>
              <a:rPr lang="en-US" sz="2000" b="0" dirty="0"/>
              <a:t>&lt;factor&gt; ::= &lt;number&gt; | ( &lt;expression&gt; )</a:t>
            </a:r>
            <a:br>
              <a:rPr lang="en-US" sz="2000" b="0" dirty="0"/>
            </a:br>
            <a:r>
              <a:rPr lang="en-US" sz="2000" b="0" dirty="0"/>
              <a:t>&lt;number&gt; ::= &lt;digit&gt; | &lt;number&gt; &lt;digit&gt;</a:t>
            </a:r>
            <a:br>
              <a:rPr lang="en-US" sz="2000" b="0" dirty="0"/>
            </a:br>
            <a:r>
              <a:rPr lang="en-US" sz="2000" b="0" dirty="0"/>
              <a:t>&lt;digit&gt; ::= 0 | 1 | 2 | 3 | 4 | 5 | 6 | 7 | 8 | 9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E538-D963-4588-26ED-AF18B600C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325" y="3868616"/>
            <a:ext cx="7638757" cy="2791732"/>
          </a:xfrm>
        </p:spPr>
        <p:txBody>
          <a:bodyPr>
            <a:normAutofit/>
          </a:bodyPr>
          <a:lstStyle/>
          <a:p>
            <a:r>
              <a:rPr lang="en-US" b="1" u="sng" dirty="0"/>
              <a:t>EBNF</a:t>
            </a:r>
          </a:p>
          <a:p>
            <a:r>
              <a:rPr lang="en-US" dirty="0"/>
              <a:t>&lt;expression&gt; ::= &lt;term&gt; (("+" | "-") &lt;term&gt;)*  </a:t>
            </a:r>
          </a:p>
          <a:p>
            <a:r>
              <a:rPr lang="en-US" dirty="0"/>
              <a:t>&lt;term&gt; ::= &lt;factor&gt; (("*" | "/") &lt;factor&gt;)*  </a:t>
            </a:r>
          </a:p>
          <a:p>
            <a:r>
              <a:rPr lang="en-US" dirty="0"/>
              <a:t>&lt;factor&gt; ::= &lt;number&gt; | "(" &lt;expression&gt; ")"  </a:t>
            </a:r>
          </a:p>
          <a:p>
            <a:r>
              <a:rPr lang="en-US" dirty="0"/>
              <a:t>&lt;number&gt; ::= &lt;digit&gt; { &lt;digit&gt; }  </a:t>
            </a:r>
          </a:p>
          <a:p>
            <a:r>
              <a:rPr lang="en-US" dirty="0"/>
              <a:t>&lt;digit&gt; ::= "0" | "1" | "2" | "3" | "4" | "5" | "6" | "7" | "8" | "9" </a:t>
            </a:r>
          </a:p>
        </p:txBody>
      </p:sp>
    </p:spTree>
    <p:extLst>
      <p:ext uri="{BB962C8B-B14F-4D97-AF65-F5344CB8AC3E}">
        <p14:creationId xmlns:p14="http://schemas.microsoft.com/office/powerpoint/2010/main" val="201236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A141-910A-DF1F-CC14-ACE39AB0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If – else if -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C2C29-2952-1795-4357-84EDD118F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9292" y="1688123"/>
            <a:ext cx="7674058" cy="4151598"/>
          </a:xfrm>
        </p:spPr>
        <p:txBody>
          <a:bodyPr/>
          <a:lstStyle/>
          <a:p>
            <a:r>
              <a:rPr lang="en-US" dirty="0"/>
              <a:t>&lt;statement&gt; ::= "if" "(" &lt;condition&gt; ")" "{" &lt;body&gt; "}"</a:t>
            </a:r>
          </a:p>
          <a:p>
            <a:r>
              <a:rPr lang="en-US" dirty="0"/>
              <a:t>               { "else if" "(" &lt;condition&gt; ")" "{" &lt;body&gt; "}" }</a:t>
            </a:r>
          </a:p>
          <a:p>
            <a:r>
              <a:rPr lang="en-US" dirty="0"/>
              <a:t>               [ "else" "{" &lt;body&gt; "}"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94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9451B-BBF4-73BE-F84A-6C69AD17F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5596" y="1713872"/>
            <a:ext cx="8643481" cy="308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&lt;digit&gt; ::= "0" | "1" | "2" | "3" | "4" | "5" | "6" | "7" | "8" | "9“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2) &lt;number&gt; ::= &lt;digit&gt; | &lt;number&gt; &lt;digit&gt;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Arial Unicode MS"/>
              </a:rPr>
              <a:t>3)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&lt;expression&gt; ::= &lt;term&gt; { ("+" | "-") &lt;term&gt;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Arial Unicode MS"/>
              </a:rPr>
              <a:t>4)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&lt;statement&gt; ::= "while" "(" &lt;condition&gt; ")" "{" &lt;body&gt; "}“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9A98B2-55E3-4E19-609C-F5B6D900638A}"/>
              </a:ext>
            </a:extLst>
          </p:cNvPr>
          <p:cNvSpPr txBox="1">
            <a:spLocks/>
          </p:cNvSpPr>
          <p:nvPr/>
        </p:nvSpPr>
        <p:spPr>
          <a:xfrm>
            <a:off x="1322363" y="1085915"/>
            <a:ext cx="7674058" cy="522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Which is invalid BNF rule?</a:t>
            </a:r>
          </a:p>
        </p:txBody>
      </p:sp>
    </p:spTree>
    <p:extLst>
      <p:ext uri="{BB962C8B-B14F-4D97-AF65-F5344CB8AC3E}">
        <p14:creationId xmlns:p14="http://schemas.microsoft.com/office/powerpoint/2010/main" val="403782680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699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Unicode MS</vt:lpstr>
      <vt:lpstr>Bierstadt</vt:lpstr>
      <vt:lpstr>GestaltVTI</vt:lpstr>
      <vt:lpstr>BNF vs EBNF</vt:lpstr>
      <vt:lpstr>PowerPoint Presentation</vt:lpstr>
      <vt:lpstr>Expanding it to if-else statement:  &lt;statement&gt; ::= "if" "(" &lt;condition&gt; ")" "{" &lt;body&gt; "}" &lt;optional_else&gt; &lt;optional_else&gt; ::= "else" "{" &lt;body&gt; "}" | ε  Note : Eepsilon represents an empty production (i.e., nothing), which simulates the optional behavior  Standard BNF does not support optional elements directly; everything must be explicitly defined using separate rules.</vt:lpstr>
      <vt:lpstr>EBNF</vt:lpstr>
      <vt:lpstr>Key Features of EBNF   1)Allow optional parts directly. Square brackets [ ... ] indicate optional parts. The else block is optional below.  &lt;if-statement&gt; ::= "if" "(" &lt;condition&gt; ")" "{" &lt;body&gt; "}" [ "else" "{" &lt;body&gt; "}" ]   2) Repetition using curly braces. Following mean a number consists of at least one digit, followed by zero or more digits    &lt;number&gt; ::= &lt;digit&gt; { &lt;digit&gt; }   3) Parentheses are used to group elements.  &lt;term&gt; ::= &lt;factor&gt; (("*" | "/") &lt;factor&gt;)* A &lt;term&gt; is a &lt;factor&gt; followed by zero or more occurrences of "*" or "/" with another &lt;factor&gt;.  </vt:lpstr>
      <vt:lpstr>BNF &lt;expression&gt; ::= &lt;term&gt; | &lt;expression&gt; + &lt;term&gt; | &lt;expression&gt; - &lt;term&gt; &lt;term&gt; ::= &lt;factor&gt; | &lt;term&gt; * &lt;factor&gt; | &lt;term&gt; / &lt;factor&gt; &lt;factor&gt; ::= &lt;number&gt; | ( &lt;expression&gt; ) &lt;number&gt; ::= &lt;digit&gt; | &lt;number&gt; &lt;digit&gt; &lt;digit&gt; ::= 0 | 1 | 2 | 3 | 4 | 5 | 6 | 7 | 8 | 9 </vt:lpstr>
      <vt:lpstr>If – else if - else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Kalpani Manathunga</dc:creator>
  <cp:lastModifiedBy>Kalpani Manathunga</cp:lastModifiedBy>
  <cp:revision>14</cp:revision>
  <dcterms:created xsi:type="dcterms:W3CDTF">2025-02-20T20:56:50Z</dcterms:created>
  <dcterms:modified xsi:type="dcterms:W3CDTF">2025-09-06T11:05:35Z</dcterms:modified>
</cp:coreProperties>
</file>